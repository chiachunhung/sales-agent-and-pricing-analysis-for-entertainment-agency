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ed Hat Display SemiBold"/>
      <p:regular r:id="rId21"/>
      <p:bold r:id="rId22"/>
      <p:italic r:id="rId23"/>
      <p:boldItalic r:id="rId24"/>
    </p:embeddedFont>
    <p:embeddedFont>
      <p:font typeface="Red Hat Display Medium"/>
      <p:regular r:id="rId25"/>
      <p:bold r:id="rId26"/>
      <p:italic r:id="rId27"/>
      <p:boldItalic r:id="rId28"/>
    </p:embeddedFont>
    <p:embeddedFont>
      <p:font typeface="Red Hat Display"/>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edHatDisplaySemiBold-bold.fntdata"/><Relationship Id="rId21" Type="http://schemas.openxmlformats.org/officeDocument/2006/relationships/font" Target="fonts/RedHatDisplaySemiBold-regular.fntdata"/><Relationship Id="rId24" Type="http://schemas.openxmlformats.org/officeDocument/2006/relationships/font" Target="fonts/RedHatDisplaySemiBold-boldItalic.fntdata"/><Relationship Id="rId23" Type="http://schemas.openxmlformats.org/officeDocument/2006/relationships/font" Target="fonts/RedHatDisplay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edHatDisplayMedium-bold.fntdata"/><Relationship Id="rId25" Type="http://schemas.openxmlformats.org/officeDocument/2006/relationships/font" Target="fonts/RedHatDisplayMedium-regular.fntdata"/><Relationship Id="rId28" Type="http://schemas.openxmlformats.org/officeDocument/2006/relationships/font" Target="fonts/RedHatDisplayMedium-boldItalic.fntdata"/><Relationship Id="rId27" Type="http://schemas.openxmlformats.org/officeDocument/2006/relationships/font" Target="fonts/RedHatDisplay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edHatDispl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edHatDisplay-italic.fntdata"/><Relationship Id="rId30" Type="http://schemas.openxmlformats.org/officeDocument/2006/relationships/font" Target="fonts/RedHatDisplay-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edHatDisplay-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90f1b50d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90f1b50d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Joshua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90f1b50d91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90f1b50d91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Joshua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99e7ce566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99e7ce566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Tony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99e7ce566f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99e7ce566f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5645a42c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a5645a42c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Xiaoyu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90f1b50d91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90f1b50d91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Joshua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56092d3dc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a56092d3d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Gina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0f1b50d91_0_2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0f1b50d91_0_2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Alizeh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90f1b50d91_0_2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90f1b50d91_0_2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Alizeh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90f1b50d91_0_2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90f1b50d91_0_2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Alizeh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90f1b50d91_0_2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90f1b50d91_0_2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Alizeh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90f1b50d91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90f1b50d91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Jeff –</a:t>
            </a:r>
            <a:endParaRPr/>
          </a:p>
          <a:p>
            <a:pPr indent="0" lvl="0" marL="0" rtl="0" algn="l">
              <a:lnSpc>
                <a:spcPct val="115000"/>
              </a:lnSpc>
              <a:spcBef>
                <a:spcPts val="1200"/>
              </a:spcBef>
              <a:spcAft>
                <a:spcPts val="0"/>
              </a:spcAft>
              <a:buClr>
                <a:schemeClr val="dk1"/>
              </a:buClr>
              <a:buSzPts val="1100"/>
              <a:buFont typeface="Arial"/>
              <a:buNone/>
            </a:pPr>
            <a:r>
              <a:rPr lang="en"/>
              <a:t>For our team’s analysis, our main strengths were the depth and accuracy of our SQL work. We carefully cleaned the data, checked for inconsistencies, and produced strong business insights across entertainers, customers, and agents. We also evaluated agent performance using multiple metrics like net revenue, ROI, and revenue per contract, which gave us a clearer picture of their true effectiveness.</a:t>
            </a:r>
            <a:endParaRPr/>
          </a:p>
          <a:p>
            <a:pPr indent="0" lvl="0" marL="0" rtl="0" algn="l">
              <a:lnSpc>
                <a:spcPct val="115000"/>
              </a:lnSpc>
              <a:spcBef>
                <a:spcPts val="1200"/>
              </a:spcBef>
              <a:spcAft>
                <a:spcPts val="0"/>
              </a:spcAft>
              <a:buClr>
                <a:schemeClr val="dk1"/>
              </a:buClr>
              <a:buSzPts val="1100"/>
              <a:buFont typeface="Arial"/>
              <a:buNone/>
            </a:pPr>
            <a:r>
              <a:rPr lang="en"/>
              <a:t>The weaknesses were mainly related to time and tools. Our visualizations were more limited compared to what Python can generate, and our work required more manual effort to explore patterns.</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90f1b50d91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90f1b50d91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Mitchell–</a:t>
            </a:r>
            <a:endParaRPr/>
          </a:p>
          <a:p>
            <a:pPr indent="0" lvl="0" marL="0" rtl="0" algn="l">
              <a:lnSpc>
                <a:spcPct val="115000"/>
              </a:lnSpc>
              <a:spcBef>
                <a:spcPts val="1200"/>
              </a:spcBef>
              <a:spcAft>
                <a:spcPts val="0"/>
              </a:spcAft>
              <a:buClr>
                <a:schemeClr val="dk1"/>
              </a:buClr>
              <a:buSzPts val="1100"/>
              <a:buFont typeface="Arial"/>
              <a:buNone/>
            </a:pPr>
            <a:r>
              <a:rPr lang="en"/>
              <a:t>For the AI analysis, its main strengths were speed and automation. It generated Python visualizations quickly, highlighted major trends immediately, and produced reusable SQL and Python code that made the process very efficient.</a:t>
            </a:r>
            <a:endParaRPr/>
          </a:p>
          <a:p>
            <a:pPr indent="0" lvl="0" marL="0" rtl="0" algn="l">
              <a:lnSpc>
                <a:spcPct val="115000"/>
              </a:lnSpc>
              <a:spcBef>
                <a:spcPts val="1200"/>
              </a:spcBef>
              <a:spcAft>
                <a:spcPts val="0"/>
              </a:spcAft>
              <a:buClr>
                <a:schemeClr val="dk1"/>
              </a:buClr>
              <a:buSzPts val="1100"/>
              <a:buFont typeface="Arial"/>
              <a:buNone/>
            </a:pPr>
            <a:r>
              <a:rPr lang="en"/>
              <a:t>However, the AI analysis had limitations. It tended to stay at a surface level, missing the deeper business context we found, and it didn’t catch data issues or anomalies that we identified manually.</a:t>
            </a:r>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90f1b50d91_0_1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90f1b50d91_0_1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Mitchell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90f1b50d91_0_1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90f1b50d91_0_1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Mitchell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9" name="Shape 9"/>
        <p:cNvGrpSpPr/>
        <p:nvPr/>
      </p:nvGrpSpPr>
      <p:grpSpPr>
        <a:xfrm>
          <a:off x="0" y="0"/>
          <a:ext cx="0" cy="0"/>
          <a:chOff x="0" y="0"/>
          <a:chExt cx="0" cy="0"/>
        </a:xfrm>
      </p:grpSpPr>
      <p:sp>
        <p:nvSpPr>
          <p:cNvPr id="10" name="Google Shape;10;p2"/>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 name="Google Shape;11;p2"/>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 name="Google Shape;12;p2"/>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 name="Google Shape;13;p2"/>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 name="Google Shape;14;p2"/>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 name="Google Shape;15;p2"/>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 name="Google Shape;16;p2"/>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 name="Google Shape;17;p2"/>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 name="Google Shape;18;p2"/>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 name="Google Shape;19;p2"/>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 name="Google Shape;20;p2"/>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 name="Google Shape;21;p2"/>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 name="Google Shape;22;p2"/>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 name="Google Shape;23;p2"/>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 name="Google Shape;24;p2"/>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 name="Google Shape;25;p2"/>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6" name="Google Shape;26;p2"/>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27" name="Shape 27"/>
        <p:cNvGrpSpPr/>
        <p:nvPr/>
      </p:nvGrpSpPr>
      <p:grpSpPr>
        <a:xfrm>
          <a:off x="0" y="0"/>
          <a:ext cx="0" cy="0"/>
          <a:chOff x="0" y="0"/>
          <a:chExt cx="0" cy="0"/>
        </a:xfrm>
      </p:grpSpPr>
      <p:sp>
        <p:nvSpPr>
          <p:cNvPr id="28" name="Google Shape;28;p3"/>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9" name="Google Shape;29;p3"/>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0" name="Google Shape;30;p3"/>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 name="Google Shape;31;p3"/>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2" name="Google Shape;32;p3"/>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3" name="Google Shape;33;p3"/>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4" name="Google Shape;34;p3"/>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5" name="Google Shape;35;p3"/>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6" name="Google Shape;36;p3"/>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7" name="Google Shape;37;p3"/>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8" name="Google Shape;38;p3"/>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9" name="Google Shape;39;p3"/>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 name="Google Shape;40;p3"/>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 name="Google Shape;41;p3"/>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 name="Google Shape;42;p3"/>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 name="Google Shape;43;p3"/>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4" name="Google Shape;44;p3"/>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
          <p:cNvSpPr/>
          <p:nvPr>
            <p:ph idx="2" type="pic"/>
          </p:nvPr>
        </p:nvSpPr>
        <p:spPr>
          <a:xfrm>
            <a:off x="3154650" y="3875225"/>
            <a:ext cx="618600" cy="808500"/>
          </a:xfrm>
          <a:prstGeom prst="snip2DiagRect">
            <a:avLst>
              <a:gd fmla="val 0" name="adj1"/>
              <a:gd fmla="val 34473" name="adj2"/>
            </a:avLst>
          </a:prstGeom>
          <a:noFill/>
          <a:ln>
            <a:noFill/>
          </a:ln>
        </p:spPr>
      </p:sp>
      <p:sp>
        <p:nvSpPr>
          <p:cNvPr id="46" name="Google Shape;46;p3"/>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47" name="Google Shape;47;p3"/>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8" name="Google Shape;48;p3"/>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9" name="Google Shape;49;p3"/>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50" name="Shape 50"/>
        <p:cNvGrpSpPr/>
        <p:nvPr/>
      </p:nvGrpSpPr>
      <p:grpSpPr>
        <a:xfrm>
          <a:off x="0" y="0"/>
          <a:ext cx="0" cy="0"/>
          <a:chOff x="0" y="0"/>
          <a:chExt cx="0" cy="0"/>
        </a:xfrm>
      </p:grpSpPr>
      <p:sp>
        <p:nvSpPr>
          <p:cNvPr id="51" name="Google Shape;51;p4"/>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2" name="Google Shape;52;p4"/>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3" name="Google Shape;53;p4"/>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4" name="Google Shape;54;p4"/>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5" name="Google Shape;55;p4"/>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4"/>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4"/>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4"/>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4"/>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4"/>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4"/>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4"/>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4"/>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4"/>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4"/>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4"/>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4"/>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4"/>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4"/>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4"/>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1" name="Google Shape;71;p4"/>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2" name="Google Shape;72;p4"/>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3" name="Google Shape;73;p4"/>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4"/>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4"/>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76" name="Shape 76"/>
        <p:cNvGrpSpPr/>
        <p:nvPr/>
      </p:nvGrpSpPr>
      <p:grpSpPr>
        <a:xfrm>
          <a:off x="0" y="0"/>
          <a:ext cx="0" cy="0"/>
          <a:chOff x="0" y="0"/>
          <a:chExt cx="0" cy="0"/>
        </a:xfrm>
      </p:grpSpPr>
      <p:grpSp>
        <p:nvGrpSpPr>
          <p:cNvPr id="77" name="Google Shape;77;p5"/>
          <p:cNvGrpSpPr/>
          <p:nvPr/>
        </p:nvGrpSpPr>
        <p:grpSpPr>
          <a:xfrm>
            <a:off x="4895291" y="1377627"/>
            <a:ext cx="4091726" cy="3670806"/>
            <a:chOff x="5223565" y="1672200"/>
            <a:chExt cx="3763198" cy="3376074"/>
          </a:xfrm>
        </p:grpSpPr>
        <p:sp>
          <p:nvSpPr>
            <p:cNvPr id="78" name="Google Shape;78;p5"/>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5"/>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5"/>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5"/>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5"/>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5"/>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5"/>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5"/>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5"/>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5"/>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5"/>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9" name="Google Shape;89;p5"/>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0" name="Google Shape;90;p5"/>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1" name="Google Shape;91;p5"/>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2" name="Google Shape;92;p5"/>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3" name="Google Shape;93;p5"/>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4" name="Google Shape;94;p5"/>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5" name="Google Shape;95;p5"/>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6" name="Google Shape;96;p5"/>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5"/>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5"/>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5"/>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5"/>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5"/>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5"/>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5"/>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5"/>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5"/>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5"/>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5"/>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5"/>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5"/>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5"/>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5"/>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5"/>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5"/>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5"/>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5"/>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5"/>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5"/>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5"/>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5"/>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5"/>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1" name="Google Shape;121;p5"/>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2" name="Google Shape;122;p5"/>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3" name="Google Shape;123;p5"/>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5"/>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5"/>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5"/>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5"/>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5"/>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5"/>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5"/>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5"/>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5"/>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5"/>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5"/>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5"/>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5"/>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5"/>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5"/>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5"/>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5"/>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5"/>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5"/>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5"/>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5"/>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5"/>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5"/>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5"/>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5"/>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5"/>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50" name="Google Shape;150;p5"/>
          <p:cNvGrpSpPr/>
          <p:nvPr/>
        </p:nvGrpSpPr>
        <p:grpSpPr>
          <a:xfrm>
            <a:off x="142078" y="79823"/>
            <a:ext cx="2140834" cy="1767927"/>
            <a:chOff x="142083" y="79814"/>
            <a:chExt cx="1831025" cy="1512212"/>
          </a:xfrm>
        </p:grpSpPr>
        <p:sp>
          <p:nvSpPr>
            <p:cNvPr id="151" name="Google Shape;151;p5"/>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5"/>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5"/>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5"/>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5"/>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5"/>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5"/>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5"/>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5"/>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5"/>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5"/>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5"/>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5"/>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5"/>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5"/>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5"/>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5"/>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5"/>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5"/>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5"/>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5"/>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5"/>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5"/>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5"/>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175" name="Google Shape;175;p5"/>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76" name="Google Shape;176;p5"/>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177" name="Shape 177"/>
        <p:cNvGrpSpPr/>
        <p:nvPr/>
      </p:nvGrpSpPr>
      <p:grpSpPr>
        <a:xfrm>
          <a:off x="0" y="0"/>
          <a:ext cx="0" cy="0"/>
          <a:chOff x="0" y="0"/>
          <a:chExt cx="0" cy="0"/>
        </a:xfrm>
      </p:grpSpPr>
      <p:sp>
        <p:nvSpPr>
          <p:cNvPr id="178" name="Google Shape;178;p6"/>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79" name="Google Shape;179;p6"/>
          <p:cNvSpPr/>
          <p:nvPr>
            <p:ph idx="2" type="pic"/>
          </p:nvPr>
        </p:nvSpPr>
        <p:spPr>
          <a:xfrm>
            <a:off x="228425" y="1804150"/>
            <a:ext cx="1444500" cy="1451400"/>
          </a:xfrm>
          <a:prstGeom prst="rect">
            <a:avLst/>
          </a:prstGeom>
          <a:noFill/>
          <a:ln>
            <a:noFill/>
          </a:ln>
        </p:spPr>
      </p:sp>
      <p:sp>
        <p:nvSpPr>
          <p:cNvPr id="180" name="Google Shape;180;p6"/>
          <p:cNvSpPr/>
          <p:nvPr>
            <p:ph idx="3" type="pic"/>
          </p:nvPr>
        </p:nvSpPr>
        <p:spPr>
          <a:xfrm>
            <a:off x="2036775" y="1804150"/>
            <a:ext cx="1444500" cy="1451400"/>
          </a:xfrm>
          <a:prstGeom prst="rect">
            <a:avLst/>
          </a:prstGeom>
          <a:noFill/>
          <a:ln>
            <a:noFill/>
          </a:ln>
        </p:spPr>
      </p:sp>
      <p:sp>
        <p:nvSpPr>
          <p:cNvPr id="181" name="Google Shape;181;p6"/>
          <p:cNvSpPr/>
          <p:nvPr>
            <p:ph idx="4" type="pic"/>
          </p:nvPr>
        </p:nvSpPr>
        <p:spPr>
          <a:xfrm>
            <a:off x="3844088" y="1804150"/>
            <a:ext cx="1444500" cy="1451400"/>
          </a:xfrm>
          <a:prstGeom prst="rect">
            <a:avLst/>
          </a:prstGeom>
          <a:noFill/>
          <a:ln>
            <a:noFill/>
          </a:ln>
        </p:spPr>
      </p:sp>
      <p:sp>
        <p:nvSpPr>
          <p:cNvPr id="182" name="Google Shape;182;p6"/>
          <p:cNvSpPr/>
          <p:nvPr>
            <p:ph idx="5" type="pic"/>
          </p:nvPr>
        </p:nvSpPr>
        <p:spPr>
          <a:xfrm>
            <a:off x="5655513" y="1804150"/>
            <a:ext cx="1444500" cy="1451400"/>
          </a:xfrm>
          <a:prstGeom prst="rect">
            <a:avLst/>
          </a:prstGeom>
          <a:noFill/>
          <a:ln>
            <a:noFill/>
          </a:ln>
        </p:spPr>
      </p:sp>
      <p:sp>
        <p:nvSpPr>
          <p:cNvPr id="183" name="Google Shape;183;p6"/>
          <p:cNvSpPr/>
          <p:nvPr>
            <p:ph idx="6" type="pic"/>
          </p:nvPr>
        </p:nvSpPr>
        <p:spPr>
          <a:xfrm>
            <a:off x="7470863" y="1804150"/>
            <a:ext cx="1444500" cy="1451400"/>
          </a:xfrm>
          <a:prstGeom prst="rect">
            <a:avLst/>
          </a:prstGeom>
          <a:noFill/>
          <a:ln>
            <a:noFill/>
          </a:ln>
        </p:spPr>
      </p:sp>
      <p:sp>
        <p:nvSpPr>
          <p:cNvPr id="184" name="Google Shape;184;p6"/>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5" name="Google Shape;185;p6"/>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6" name="Google Shape;186;p6"/>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7" name="Google Shape;187;p6"/>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8" name="Google Shape;188;p6"/>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9" name="Google Shape;189;p6"/>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0" name="Google Shape;190;p6"/>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1" name="Google Shape;191;p6"/>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2" name="Google Shape;192;p6"/>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3" name="Google Shape;193;p6"/>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194" name="Shape 194"/>
        <p:cNvGrpSpPr/>
        <p:nvPr/>
      </p:nvGrpSpPr>
      <p:grpSpPr>
        <a:xfrm>
          <a:off x="0" y="0"/>
          <a:ext cx="0" cy="0"/>
          <a:chOff x="0" y="0"/>
          <a:chExt cx="0" cy="0"/>
        </a:xfrm>
      </p:grpSpPr>
      <p:sp>
        <p:nvSpPr>
          <p:cNvPr id="195" name="Google Shape;195;p7"/>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96" name="Google Shape;196;p7"/>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7"/>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7"/>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7"/>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7"/>
          <p:cNvSpPr/>
          <p:nvPr>
            <p:ph idx="2" type="pic"/>
          </p:nvPr>
        </p:nvSpPr>
        <p:spPr>
          <a:xfrm>
            <a:off x="228425" y="1992125"/>
            <a:ext cx="1444500" cy="1451400"/>
          </a:xfrm>
          <a:prstGeom prst="rect">
            <a:avLst/>
          </a:prstGeom>
          <a:noFill/>
          <a:ln>
            <a:noFill/>
          </a:ln>
        </p:spPr>
      </p:sp>
      <p:sp>
        <p:nvSpPr>
          <p:cNvPr id="201" name="Google Shape;201;p7"/>
          <p:cNvSpPr/>
          <p:nvPr>
            <p:ph idx="3" type="pic"/>
          </p:nvPr>
        </p:nvSpPr>
        <p:spPr>
          <a:xfrm>
            <a:off x="2039088" y="1992125"/>
            <a:ext cx="1444500" cy="1451400"/>
          </a:xfrm>
          <a:prstGeom prst="rect">
            <a:avLst/>
          </a:prstGeom>
          <a:noFill/>
          <a:ln>
            <a:noFill/>
          </a:ln>
        </p:spPr>
      </p:sp>
      <p:sp>
        <p:nvSpPr>
          <p:cNvPr id="202" name="Google Shape;202;p7"/>
          <p:cNvSpPr/>
          <p:nvPr>
            <p:ph idx="4" type="pic"/>
          </p:nvPr>
        </p:nvSpPr>
        <p:spPr>
          <a:xfrm>
            <a:off x="3849663" y="1992125"/>
            <a:ext cx="1444500" cy="1451400"/>
          </a:xfrm>
          <a:prstGeom prst="rect">
            <a:avLst/>
          </a:prstGeom>
          <a:noFill/>
          <a:ln>
            <a:noFill/>
          </a:ln>
        </p:spPr>
      </p:sp>
      <p:sp>
        <p:nvSpPr>
          <p:cNvPr id="203" name="Google Shape;203;p7"/>
          <p:cNvSpPr/>
          <p:nvPr>
            <p:ph idx="5" type="pic"/>
          </p:nvPr>
        </p:nvSpPr>
        <p:spPr>
          <a:xfrm>
            <a:off x="5660238" y="1992125"/>
            <a:ext cx="1444500" cy="1451400"/>
          </a:xfrm>
          <a:prstGeom prst="rect">
            <a:avLst/>
          </a:prstGeom>
          <a:noFill/>
          <a:ln>
            <a:noFill/>
          </a:ln>
        </p:spPr>
      </p:sp>
      <p:sp>
        <p:nvSpPr>
          <p:cNvPr id="204" name="Google Shape;204;p7"/>
          <p:cNvSpPr/>
          <p:nvPr>
            <p:ph idx="6" type="pic"/>
          </p:nvPr>
        </p:nvSpPr>
        <p:spPr>
          <a:xfrm>
            <a:off x="7470738" y="1992125"/>
            <a:ext cx="1444500" cy="1451400"/>
          </a:xfrm>
          <a:prstGeom prst="rect">
            <a:avLst/>
          </a:prstGeom>
          <a:noFill/>
          <a:ln>
            <a:noFill/>
          </a:ln>
        </p:spPr>
      </p:sp>
      <p:sp>
        <p:nvSpPr>
          <p:cNvPr id="205" name="Google Shape;205;p7"/>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06" name="Google Shape;206;p7"/>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7" name="Google Shape;207;p7"/>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8" name="Google Shape;208;p7"/>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9" name="Google Shape;209;p7"/>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0" name="Google Shape;210;p7"/>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1" name="Google Shape;211;p7"/>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2" name="Google Shape;212;p7"/>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3" name="Google Shape;213;p7"/>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4" name="Google Shape;214;p7"/>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5" name="Google Shape;215;p7"/>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6" name="Google Shape;216;p7"/>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7" name="Google Shape;217;p7"/>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18" name="Google Shape;218;p7"/>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9" name="Google Shape;219;p7"/>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20" name="Shape 220"/>
        <p:cNvGrpSpPr/>
        <p:nvPr/>
      </p:nvGrpSpPr>
      <p:grpSpPr>
        <a:xfrm>
          <a:off x="0" y="0"/>
          <a:ext cx="0" cy="0"/>
          <a:chOff x="0" y="0"/>
          <a:chExt cx="0" cy="0"/>
        </a:xfrm>
      </p:grpSpPr>
      <p:sp>
        <p:nvSpPr>
          <p:cNvPr id="221" name="Google Shape;221;p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22" name="Shape 222"/>
        <p:cNvGrpSpPr/>
        <p:nvPr/>
      </p:nvGrpSpPr>
      <p:grpSpPr>
        <a:xfrm>
          <a:off x="0" y="0"/>
          <a:ext cx="0" cy="0"/>
          <a:chOff x="0" y="0"/>
          <a:chExt cx="0" cy="0"/>
        </a:xfrm>
      </p:grpSpPr>
      <p:sp>
        <p:nvSpPr>
          <p:cNvPr id="223" name="Google Shape;223;p9"/>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4" name="Google Shape;224;p9"/>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5" name="Google Shape;225;p9"/>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6" name="Google Shape;226;p9"/>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7" name="Google Shape;227;p9"/>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8" name="Google Shape;228;p9"/>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9" name="Google Shape;229;p9"/>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0" name="Google Shape;230;p9"/>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1" name="Google Shape;231;p9"/>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2" name="Google Shape;232;p9"/>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3" name="Google Shape;233;p9"/>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34" name="Shape 234"/>
        <p:cNvGrpSpPr/>
        <p:nvPr/>
      </p:nvGrpSpPr>
      <p:grpSpPr>
        <a:xfrm>
          <a:off x="0" y="0"/>
          <a:ext cx="0" cy="0"/>
          <a:chOff x="0" y="0"/>
          <a:chExt cx="0" cy="0"/>
        </a:xfrm>
      </p:grpSpPr>
      <p:sp>
        <p:nvSpPr>
          <p:cNvPr id="235" name="Google Shape;235;p1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6" name="Google Shape;236;p10"/>
          <p:cNvSpPr/>
          <p:nvPr>
            <p:ph idx="2" type="pic"/>
          </p:nvPr>
        </p:nvSpPr>
        <p:spPr>
          <a:xfrm>
            <a:off x="1446025" y="1291825"/>
            <a:ext cx="1232400" cy="1283100"/>
          </a:xfrm>
          <a:prstGeom prst="snip1Rect">
            <a:avLst>
              <a:gd fmla="val 44296" name="adj"/>
            </a:avLst>
          </a:prstGeom>
          <a:noFill/>
          <a:ln>
            <a:noFill/>
          </a:ln>
        </p:spPr>
      </p:sp>
      <p:sp>
        <p:nvSpPr>
          <p:cNvPr id="237" name="Google Shape;237;p10"/>
          <p:cNvSpPr/>
          <p:nvPr>
            <p:ph idx="3" type="pic"/>
          </p:nvPr>
        </p:nvSpPr>
        <p:spPr>
          <a:xfrm>
            <a:off x="6526650" y="1291825"/>
            <a:ext cx="1232400" cy="1283100"/>
          </a:xfrm>
          <a:prstGeom prst="snip1Rect">
            <a:avLst>
              <a:gd fmla="val 44296" name="adj"/>
            </a:avLst>
          </a:prstGeom>
          <a:noFill/>
          <a:ln>
            <a:noFill/>
          </a:ln>
        </p:spPr>
      </p:sp>
      <p:sp>
        <p:nvSpPr>
          <p:cNvPr id="238" name="Google Shape;238;p10"/>
          <p:cNvSpPr/>
          <p:nvPr>
            <p:ph idx="4" type="pic"/>
          </p:nvPr>
        </p:nvSpPr>
        <p:spPr>
          <a:xfrm>
            <a:off x="3982125" y="2570200"/>
            <a:ext cx="1232400" cy="1292100"/>
          </a:xfrm>
          <a:prstGeom prst="snip1Rect">
            <a:avLst>
              <a:gd fmla="val 44296" name="adj"/>
            </a:avLst>
          </a:prstGeom>
          <a:noFill/>
          <a:ln>
            <a:noFill/>
          </a:ln>
        </p:spPr>
      </p:sp>
      <p:sp>
        <p:nvSpPr>
          <p:cNvPr id="239" name="Google Shape;239;p10"/>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0" name="Google Shape;240;p10"/>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1" name="Google Shape;241;p10"/>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10"/>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3" name="Google Shape;243;p10"/>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4" name="Google Shape;244;p10"/>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5" name="Google Shape;245;p10"/>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6" name="Google Shape;246;p10"/>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7" name="Google Shape;247;p10"/>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48" name="Shape 248"/>
        <p:cNvGrpSpPr/>
        <p:nvPr/>
      </p:nvGrpSpPr>
      <p:grpSpPr>
        <a:xfrm>
          <a:off x="0" y="0"/>
          <a:ext cx="0" cy="0"/>
          <a:chOff x="0" y="0"/>
          <a:chExt cx="0" cy="0"/>
        </a:xfrm>
      </p:grpSpPr>
      <p:pic>
        <p:nvPicPr>
          <p:cNvPr id="249" name="Google Shape;249;p11"/>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50" name="Google Shape;250;p11"/>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51" name="Google Shape;251;p11"/>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2" name="Google Shape;252;p11"/>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3" name="Google Shape;253;p11"/>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54" name="Google Shape;254;p11"/>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5" name="Google Shape;255;p11"/>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6" name="Google Shape;256;p11"/>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257" name="Shape 257"/>
        <p:cNvGrpSpPr/>
        <p:nvPr/>
      </p:nvGrpSpPr>
      <p:grpSpPr>
        <a:xfrm>
          <a:off x="0" y="0"/>
          <a:ext cx="0" cy="0"/>
          <a:chOff x="0" y="0"/>
          <a:chExt cx="0" cy="0"/>
        </a:xfrm>
      </p:grpSpPr>
      <p:pic>
        <p:nvPicPr>
          <p:cNvPr id="258" name="Google Shape;258;p12"/>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259" name="Google Shape;259;p12"/>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260" name="Google Shape;260;p12"/>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61" name="Google Shape;261;p12"/>
          <p:cNvSpPr/>
          <p:nvPr>
            <p:ph idx="2" type="pic"/>
          </p:nvPr>
        </p:nvSpPr>
        <p:spPr>
          <a:xfrm>
            <a:off x="228425" y="2450950"/>
            <a:ext cx="1791900" cy="1917600"/>
          </a:xfrm>
          <a:prstGeom prst="rect">
            <a:avLst/>
          </a:prstGeom>
          <a:noFill/>
          <a:ln>
            <a:noFill/>
          </a:ln>
        </p:spPr>
      </p:sp>
      <p:sp>
        <p:nvSpPr>
          <p:cNvPr id="262" name="Google Shape;262;p12"/>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63" name="Google Shape;263;p12"/>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4" name="Google Shape;264;p12"/>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5" name="Google Shape;265;p12"/>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6" name="Google Shape;266;p12"/>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7" name="Google Shape;267;p12"/>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8" name="Google Shape;268;p12"/>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9" name="Google Shape;269;p12"/>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270" name="Shape 270"/>
        <p:cNvGrpSpPr/>
        <p:nvPr/>
      </p:nvGrpSpPr>
      <p:grpSpPr>
        <a:xfrm>
          <a:off x="0" y="0"/>
          <a:ext cx="0" cy="0"/>
          <a:chOff x="0" y="0"/>
          <a:chExt cx="0" cy="0"/>
        </a:xfrm>
      </p:grpSpPr>
      <p:sp>
        <p:nvSpPr>
          <p:cNvPr id="271" name="Google Shape;271;p13"/>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13"/>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3" name="Google Shape;273;p13"/>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4" name="Google Shape;274;p13"/>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13"/>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6" name="Google Shape;276;p13"/>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7" name="Google Shape;277;p13"/>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8" name="Google Shape;278;p13"/>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9" name="Google Shape;279;p13"/>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0" name="Google Shape;280;p13"/>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1" name="Google Shape;281;p13"/>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282" name="Shape 282"/>
        <p:cNvGrpSpPr/>
        <p:nvPr/>
      </p:nvGrpSpPr>
      <p:grpSpPr>
        <a:xfrm>
          <a:off x="0" y="0"/>
          <a:ext cx="0" cy="0"/>
          <a:chOff x="0" y="0"/>
          <a:chExt cx="0" cy="0"/>
        </a:xfrm>
      </p:grpSpPr>
      <p:sp>
        <p:nvSpPr>
          <p:cNvPr id="283" name="Google Shape;283;p14"/>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4" name="Google Shape;284;p14"/>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5" name="Google Shape;285;p14"/>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6" name="Google Shape;286;p14"/>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287" name="Google Shape;287;p14"/>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8" name="Google Shape;288;p14"/>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89" name="Google Shape;289;p14"/>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0" name="Google Shape;290;p14"/>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291" name="Google Shape;291;p14"/>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2" name="Google Shape;292;p14"/>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3" name="Google Shape;293;p14"/>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294" name="Shape 294"/>
        <p:cNvGrpSpPr/>
        <p:nvPr/>
      </p:nvGrpSpPr>
      <p:grpSpPr>
        <a:xfrm>
          <a:off x="0" y="0"/>
          <a:ext cx="0" cy="0"/>
          <a:chOff x="0" y="0"/>
          <a:chExt cx="0" cy="0"/>
        </a:xfrm>
      </p:grpSpPr>
      <p:sp>
        <p:nvSpPr>
          <p:cNvPr id="295" name="Google Shape;295;p15"/>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15"/>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7" name="Google Shape;297;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298" name="Google Shape;298;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299" name="Google Shape;299;p15"/>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0" name="Google Shape;300;p15"/>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1" name="Google Shape;301;p15"/>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02" name="Google Shape;302;p15"/>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3" name="Google Shape;303;p15"/>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4" name="Google Shape;304;p15"/>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5" name="Google Shape;305;p15"/>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6" name="Google Shape;306;p15"/>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7" name="Google Shape;307;p15"/>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8" name="Google Shape;308;p15"/>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9" name="Google Shape;309;p15"/>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15"/>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1" name="Google Shape;311;p15"/>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15"/>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3" name="Google Shape;313;p15"/>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15"/>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5" name="Google Shape;315;p15"/>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6" name="Google Shape;316;p15"/>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7" name="Google Shape;317;p15"/>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15"/>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15"/>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0" name="Google Shape;320;p15"/>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1" name="Google Shape;321;p15"/>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22" name="Shape 322"/>
        <p:cNvGrpSpPr/>
        <p:nvPr/>
      </p:nvGrpSpPr>
      <p:grpSpPr>
        <a:xfrm>
          <a:off x="0" y="0"/>
          <a:ext cx="0" cy="0"/>
          <a:chOff x="0" y="0"/>
          <a:chExt cx="0" cy="0"/>
        </a:xfrm>
      </p:grpSpPr>
      <p:sp>
        <p:nvSpPr>
          <p:cNvPr id="323" name="Google Shape;323;p1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4" name="Google Shape;324;p16"/>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25" name="Google Shape;325;p1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26" name="Google Shape;326;p16"/>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7" name="Google Shape;327;p16"/>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8" name="Google Shape;328;p16"/>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9" name="Google Shape;329;p16"/>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0" name="Google Shape;330;p16"/>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1" name="Google Shape;331;p16"/>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2" name="Google Shape;332;p16"/>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33" name="Google Shape;333;p16"/>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4" name="Google Shape;334;p16"/>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5" name="Google Shape;335;p16"/>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36" name="Shape 336"/>
        <p:cNvGrpSpPr/>
        <p:nvPr/>
      </p:nvGrpSpPr>
      <p:grpSpPr>
        <a:xfrm>
          <a:off x="0" y="0"/>
          <a:ext cx="0" cy="0"/>
          <a:chOff x="0" y="0"/>
          <a:chExt cx="0" cy="0"/>
        </a:xfrm>
      </p:grpSpPr>
      <p:sp>
        <p:nvSpPr>
          <p:cNvPr id="337" name="Google Shape;337;p1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38" name="Google Shape;338;p1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9" name="Google Shape;339;p1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0" name="Google Shape;340;p17"/>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1" name="Google Shape;341;p17"/>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2" name="Google Shape;342;p17"/>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3" name="Google Shape;343;p17"/>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44" name="Google Shape;344;p17"/>
          <p:cNvGrpSpPr/>
          <p:nvPr/>
        </p:nvGrpSpPr>
        <p:grpSpPr>
          <a:xfrm flipH="1">
            <a:off x="6903656" y="79823"/>
            <a:ext cx="2140834" cy="1767927"/>
            <a:chOff x="142083" y="79814"/>
            <a:chExt cx="1831025" cy="1512212"/>
          </a:xfrm>
        </p:grpSpPr>
        <p:sp>
          <p:nvSpPr>
            <p:cNvPr id="345" name="Google Shape;345;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6" name="Google Shape;346;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7" name="Google Shape;347;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8" name="Google Shape;348;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9" name="Google Shape;349;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0" name="Google Shape;350;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1" name="Google Shape;351;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2" name="Google Shape;352;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3" name="Google Shape;353;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4" name="Google Shape;354;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5" name="Google Shape;355;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6" name="Google Shape;356;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7" name="Google Shape;357;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8" name="Google Shape;358;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9" name="Google Shape;359;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0" name="Google Shape;360;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1" name="Google Shape;361;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2" name="Google Shape;362;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3" name="Google Shape;363;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4" name="Google Shape;364;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5" name="Google Shape;365;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6" name="Google Shape;366;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7" name="Google Shape;367;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8" name="Google Shape;368;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369" name="Google Shape;369;p17"/>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70" name="Google Shape;370;p17"/>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371" name="Shape 371"/>
        <p:cNvGrpSpPr/>
        <p:nvPr/>
      </p:nvGrpSpPr>
      <p:grpSpPr>
        <a:xfrm>
          <a:off x="0" y="0"/>
          <a:ext cx="0" cy="0"/>
          <a:chOff x="0" y="0"/>
          <a:chExt cx="0" cy="0"/>
        </a:xfrm>
      </p:grpSpPr>
      <p:sp>
        <p:nvSpPr>
          <p:cNvPr id="372" name="Google Shape;372;p1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73" name="Google Shape;373;p1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4" name="Google Shape;374;p1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5" name="Google Shape;375;p18"/>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18"/>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7" name="Google Shape;377;p18"/>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8" name="Google Shape;378;p18"/>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379" name="Google Shape;379;p18"/>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80" name="Google Shape;380;p18"/>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381" name="Shape 381"/>
        <p:cNvGrpSpPr/>
        <p:nvPr/>
      </p:nvGrpSpPr>
      <p:grpSpPr>
        <a:xfrm>
          <a:off x="0" y="0"/>
          <a:ext cx="0" cy="0"/>
          <a:chOff x="0" y="0"/>
          <a:chExt cx="0" cy="0"/>
        </a:xfrm>
      </p:grpSpPr>
      <p:sp>
        <p:nvSpPr>
          <p:cNvPr id="382" name="Google Shape;382;p1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3" name="Google Shape;383;p1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4" name="Google Shape;384;p1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5" name="Google Shape;385;p19"/>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6" name="Google Shape;386;p19"/>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7" name="Google Shape;387;p19"/>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8" name="Google Shape;388;p19"/>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9" name="Google Shape;389;p19"/>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0" name="Google Shape;390;p19"/>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1" name="Google Shape;391;p19"/>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2" name="Google Shape;392;p19"/>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393" name="Shape 393"/>
        <p:cNvGrpSpPr/>
        <p:nvPr/>
      </p:nvGrpSpPr>
      <p:grpSpPr>
        <a:xfrm>
          <a:off x="0" y="0"/>
          <a:ext cx="0" cy="0"/>
          <a:chOff x="0" y="0"/>
          <a:chExt cx="0" cy="0"/>
        </a:xfrm>
      </p:grpSpPr>
      <p:cxnSp>
        <p:nvCxnSpPr>
          <p:cNvPr id="394" name="Google Shape;394;p20"/>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395" name="Google Shape;395;p20"/>
          <p:cNvCxnSpPr>
            <a:stCxn id="396" idx="1"/>
            <a:endCxn id="397"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398" name="Google Shape;398;p20"/>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399" name="Google Shape;399;p20"/>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396" name="Google Shape;396;p20"/>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0" name="Google Shape;400;p20"/>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397" name="Google Shape;397;p20"/>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1" name="Google Shape;401;p20"/>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02" name="Google Shape;402;p20"/>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3" name="Google Shape;403;p20"/>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04" name="Google Shape;404;p2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05" name="Shape 405"/>
        <p:cNvGrpSpPr/>
        <p:nvPr/>
      </p:nvGrpSpPr>
      <p:grpSpPr>
        <a:xfrm>
          <a:off x="0" y="0"/>
          <a:ext cx="0" cy="0"/>
          <a:chOff x="0" y="0"/>
          <a:chExt cx="0" cy="0"/>
        </a:xfrm>
      </p:grpSpPr>
      <p:cxnSp>
        <p:nvCxnSpPr>
          <p:cNvPr id="406" name="Google Shape;406;p21"/>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07" name="Google Shape;407;p21"/>
          <p:cNvCxnSpPr>
            <a:stCxn id="408" idx="1"/>
            <a:endCxn id="409"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10" name="Google Shape;410;p21"/>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11" name="Google Shape;411;p21"/>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08" name="Google Shape;408;p21"/>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2" name="Google Shape;412;p21"/>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09" name="Google Shape;409;p21"/>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3" name="Google Shape;413;p21"/>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14" name="Google Shape;414;p21"/>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5" name="Google Shape;415;p21"/>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6" name="Google Shape;416;p21"/>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17" name="Shape 417"/>
        <p:cNvGrpSpPr/>
        <p:nvPr/>
      </p:nvGrpSpPr>
      <p:grpSpPr>
        <a:xfrm>
          <a:off x="0" y="0"/>
          <a:ext cx="0" cy="0"/>
          <a:chOff x="0" y="0"/>
          <a:chExt cx="0" cy="0"/>
        </a:xfrm>
      </p:grpSpPr>
      <p:sp>
        <p:nvSpPr>
          <p:cNvPr id="418" name="Google Shape;418;p22"/>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9" name="Google Shape;419;p22"/>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20" name="Google Shape;420;p22"/>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1" name="Google Shape;421;p22"/>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2" name="Google Shape;422;p22"/>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3" name="Google Shape;423;p22"/>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4" name="Google Shape;424;p22"/>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5" name="Google Shape;425;p22"/>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6" name="Google Shape;426;p22"/>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7" name="Google Shape;427;p22"/>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8" name="Google Shape;428;p22"/>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9" name="Google Shape;429;p22"/>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0" name="Google Shape;430;p22"/>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1" name="Google Shape;431;p22"/>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2" name="Google Shape;432;p22"/>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3" name="Google Shape;433;p22"/>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4" name="Google Shape;434;p22"/>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35" name="Shape 435"/>
        <p:cNvGrpSpPr/>
        <p:nvPr/>
      </p:nvGrpSpPr>
      <p:grpSpPr>
        <a:xfrm>
          <a:off x="0" y="0"/>
          <a:ext cx="0" cy="0"/>
          <a:chOff x="0" y="0"/>
          <a:chExt cx="0" cy="0"/>
        </a:xfrm>
      </p:grpSpPr>
      <p:sp>
        <p:nvSpPr>
          <p:cNvPr id="436" name="Google Shape;436;p23"/>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7" name="Google Shape;437;p23"/>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38" name="Google Shape;438;p23"/>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9" name="Google Shape;439;p23"/>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0" name="Google Shape;440;p23"/>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1" name="Google Shape;441;p23"/>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2" name="Google Shape;442;p23"/>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3" name="Google Shape;443;p23"/>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44" name="Google Shape;444;p23"/>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5" name="Google Shape;445;p23"/>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6" name="Google Shape;446;p23"/>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47" name="Shape 447"/>
        <p:cNvGrpSpPr/>
        <p:nvPr/>
      </p:nvGrpSpPr>
      <p:grpSpPr>
        <a:xfrm>
          <a:off x="0" y="0"/>
          <a:ext cx="0" cy="0"/>
          <a:chOff x="0" y="0"/>
          <a:chExt cx="0" cy="0"/>
        </a:xfrm>
      </p:grpSpPr>
      <p:sp>
        <p:nvSpPr>
          <p:cNvPr id="448" name="Google Shape;448;p24"/>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9" name="Google Shape;449;p24"/>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50" name="Google Shape;450;p24"/>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1" name="Google Shape;451;p24"/>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2" name="Google Shape;452;p24"/>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3" name="Google Shape;453;p24"/>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4" name="Google Shape;454;p24"/>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5" name="Google Shape;455;p24"/>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6" name="Google Shape;456;p24"/>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57" name="Shape 457"/>
        <p:cNvGrpSpPr/>
        <p:nvPr/>
      </p:nvGrpSpPr>
      <p:grpSpPr>
        <a:xfrm>
          <a:off x="0" y="0"/>
          <a:ext cx="0" cy="0"/>
          <a:chOff x="0" y="0"/>
          <a:chExt cx="0" cy="0"/>
        </a:xfrm>
      </p:grpSpPr>
      <p:sp>
        <p:nvSpPr>
          <p:cNvPr id="458" name="Google Shape;45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59" name="Shape 459"/>
        <p:cNvGrpSpPr/>
        <p:nvPr/>
      </p:nvGrpSpPr>
      <p:grpSpPr>
        <a:xfrm>
          <a:off x="0" y="0"/>
          <a:ext cx="0" cy="0"/>
          <a:chOff x="0" y="0"/>
          <a:chExt cx="0" cy="0"/>
        </a:xfrm>
      </p:grpSpPr>
      <p:sp>
        <p:nvSpPr>
          <p:cNvPr id="460" name="Google Shape;46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1" name="Google Shape;461;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62" name="Shape 462"/>
        <p:cNvGrpSpPr/>
        <p:nvPr/>
      </p:nvGrpSpPr>
      <p:grpSpPr>
        <a:xfrm>
          <a:off x="0" y="0"/>
          <a:ext cx="0" cy="0"/>
          <a:chOff x="0" y="0"/>
          <a:chExt cx="0" cy="0"/>
        </a:xfrm>
      </p:grpSpPr>
      <p:sp>
        <p:nvSpPr>
          <p:cNvPr id="463" name="Google Shape;46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4" name="Google Shape;464;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5" name="Google Shape;465;p27"/>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6" name="Shape 466"/>
        <p:cNvGrpSpPr/>
        <p:nvPr/>
      </p:nvGrpSpPr>
      <p:grpSpPr>
        <a:xfrm>
          <a:off x="0" y="0"/>
          <a:ext cx="0" cy="0"/>
          <a:chOff x="0" y="0"/>
          <a:chExt cx="0" cy="0"/>
        </a:xfrm>
      </p:grpSpPr>
      <p:sp>
        <p:nvSpPr>
          <p:cNvPr id="467" name="Google Shape;467;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8" name="Google Shape;468;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69" name="Shape 469"/>
        <p:cNvGrpSpPr/>
        <p:nvPr/>
      </p:nvGrpSpPr>
      <p:grpSpPr>
        <a:xfrm>
          <a:off x="0" y="0"/>
          <a:ext cx="0" cy="0"/>
          <a:chOff x="0" y="0"/>
          <a:chExt cx="0" cy="0"/>
        </a:xfrm>
      </p:grpSpPr>
      <p:sp>
        <p:nvSpPr>
          <p:cNvPr id="470" name="Google Shape;470;p2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71" name="Shape 471"/>
        <p:cNvGrpSpPr/>
        <p:nvPr/>
      </p:nvGrpSpPr>
      <p:grpSpPr>
        <a:xfrm>
          <a:off x="0" y="0"/>
          <a:ext cx="0" cy="0"/>
          <a:chOff x="0" y="0"/>
          <a:chExt cx="0" cy="0"/>
        </a:xfrm>
      </p:grpSpPr>
      <p:sp>
        <p:nvSpPr>
          <p:cNvPr id="472" name="Google Shape;472;p3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3" name="Google Shape;473;p3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74" name="Google Shape;474;p3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75" name="Shape 475"/>
        <p:cNvGrpSpPr/>
        <p:nvPr/>
      </p:nvGrpSpPr>
      <p:grpSpPr>
        <a:xfrm>
          <a:off x="0" y="0"/>
          <a:ext cx="0" cy="0"/>
          <a:chOff x="0" y="0"/>
          <a:chExt cx="0" cy="0"/>
        </a:xfrm>
      </p:grpSpPr>
      <p:sp>
        <p:nvSpPr>
          <p:cNvPr id="476" name="Google Shape;476;p3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77" name="Shape 477"/>
        <p:cNvGrpSpPr/>
        <p:nvPr/>
      </p:nvGrpSpPr>
      <p:grpSpPr>
        <a:xfrm>
          <a:off x="0" y="0"/>
          <a:ext cx="0" cy="0"/>
          <a:chOff x="0" y="0"/>
          <a:chExt cx="0" cy="0"/>
        </a:xfrm>
      </p:grpSpPr>
      <p:sp>
        <p:nvSpPr>
          <p:cNvPr id="478" name="Google Shape;478;p3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9" name="Google Shape;479;p3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80" name="Shape 480"/>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81" name="Shape 481"/>
        <p:cNvGrpSpPr/>
        <p:nvPr/>
      </p:nvGrpSpPr>
      <p:grpSpPr>
        <a:xfrm>
          <a:off x="0" y="0"/>
          <a:ext cx="0" cy="0"/>
          <a:chOff x="0" y="0"/>
          <a:chExt cx="0" cy="0"/>
        </a:xfrm>
      </p:grpSpPr>
      <p:sp>
        <p:nvSpPr>
          <p:cNvPr id="482" name="Google Shape;48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83" name="Google Shape;483;p34"/>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4" name="Google Shape;48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85" name="Shape 485"/>
        <p:cNvGrpSpPr/>
        <p:nvPr/>
      </p:nvGrpSpPr>
      <p:grpSpPr>
        <a:xfrm>
          <a:off x="0" y="0"/>
          <a:ext cx="0" cy="0"/>
          <a:chOff x="0" y="0"/>
          <a:chExt cx="0" cy="0"/>
        </a:xfrm>
      </p:grpSpPr>
      <p:sp>
        <p:nvSpPr>
          <p:cNvPr id="486" name="Google Shape;486;p3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87" name="Google Shape;487;p35"/>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8" name="Google Shape;488;p3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89" name="Google Shape;489;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91" name="Shape 491"/>
        <p:cNvGrpSpPr/>
        <p:nvPr/>
      </p:nvGrpSpPr>
      <p:grpSpPr>
        <a:xfrm>
          <a:off x="0" y="0"/>
          <a:ext cx="0" cy="0"/>
          <a:chOff x="0" y="0"/>
          <a:chExt cx="0" cy="0"/>
        </a:xfrm>
      </p:grpSpPr>
      <p:sp>
        <p:nvSpPr>
          <p:cNvPr id="492" name="Google Shape;492;p36"/>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93" name="Google Shape;493;p3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94" name="Google Shape;494;p3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95" name="Google Shape;495;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6" name="Google Shape;496;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7" name="Google Shape;497;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8" name="Google Shape;498;p3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99" name="Shape 499"/>
        <p:cNvGrpSpPr/>
        <p:nvPr/>
      </p:nvGrpSpPr>
      <p:grpSpPr>
        <a:xfrm>
          <a:off x="0" y="0"/>
          <a:ext cx="0" cy="0"/>
          <a:chOff x="0" y="0"/>
          <a:chExt cx="0" cy="0"/>
        </a:xfrm>
      </p:grpSpPr>
      <p:sp>
        <p:nvSpPr>
          <p:cNvPr id="500" name="Google Shape;500;p37"/>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01" name="Google Shape;501;p3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2" name="Google Shape;502;p3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3" name="Google Shape;503;p3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4" name="Google Shape;504;p3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5" name="Google Shape;505;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6" name="Google Shape;506;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7" name="Google Shape;507;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8" name="Google Shape;508;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09" name="Shape 509"/>
        <p:cNvGrpSpPr/>
        <p:nvPr/>
      </p:nvGrpSpPr>
      <p:grpSpPr>
        <a:xfrm>
          <a:off x="0" y="0"/>
          <a:ext cx="0" cy="0"/>
          <a:chOff x="0" y="0"/>
          <a:chExt cx="0" cy="0"/>
        </a:xfrm>
      </p:grpSpPr>
      <p:sp>
        <p:nvSpPr>
          <p:cNvPr id="510" name="Google Shape;51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1" name="Google Shape;51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12" name="Shape 512"/>
        <p:cNvGrpSpPr/>
        <p:nvPr/>
      </p:nvGrpSpPr>
      <p:grpSpPr>
        <a:xfrm>
          <a:off x="0" y="0"/>
          <a:ext cx="0" cy="0"/>
          <a:chOff x="0" y="0"/>
          <a:chExt cx="0" cy="0"/>
        </a:xfrm>
      </p:grpSpPr>
      <p:sp>
        <p:nvSpPr>
          <p:cNvPr id="513" name="Google Shape;513;p39"/>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14" name="Google Shape;514;p39"/>
          <p:cNvSpPr/>
          <p:nvPr>
            <p:ph idx="2" type="pic"/>
          </p:nvPr>
        </p:nvSpPr>
        <p:spPr>
          <a:xfrm>
            <a:off x="4804825" y="1133300"/>
            <a:ext cx="4027500" cy="2392800"/>
          </a:xfrm>
          <a:prstGeom prst="rect">
            <a:avLst/>
          </a:prstGeom>
          <a:noFill/>
          <a:ln>
            <a:noFill/>
          </a:ln>
        </p:spPr>
      </p:sp>
      <p:sp>
        <p:nvSpPr>
          <p:cNvPr id="515" name="Google Shape;515;p39"/>
          <p:cNvSpPr/>
          <p:nvPr>
            <p:ph idx="3" type="pic"/>
          </p:nvPr>
        </p:nvSpPr>
        <p:spPr>
          <a:xfrm>
            <a:off x="311725" y="1133300"/>
            <a:ext cx="4027500" cy="2392800"/>
          </a:xfrm>
          <a:prstGeom prst="rect">
            <a:avLst/>
          </a:prstGeom>
          <a:noFill/>
          <a:ln>
            <a:noFill/>
          </a:ln>
        </p:spPr>
      </p:sp>
      <p:sp>
        <p:nvSpPr>
          <p:cNvPr id="516" name="Google Shape;516;p3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7" name="Google Shape;51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8" name="Google Shape;518;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19" name="Google Shape;519;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20" name="Shape 520"/>
        <p:cNvGrpSpPr/>
        <p:nvPr/>
      </p:nvGrpSpPr>
      <p:grpSpPr>
        <a:xfrm>
          <a:off x="0" y="0"/>
          <a:ext cx="0" cy="0"/>
          <a:chOff x="0" y="0"/>
          <a:chExt cx="0" cy="0"/>
        </a:xfrm>
      </p:grpSpPr>
      <p:sp>
        <p:nvSpPr>
          <p:cNvPr id="521" name="Google Shape;521;p40"/>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22" name="Google Shape;522;p40"/>
          <p:cNvSpPr/>
          <p:nvPr>
            <p:ph idx="2" type="pic"/>
          </p:nvPr>
        </p:nvSpPr>
        <p:spPr>
          <a:xfrm>
            <a:off x="6205225" y="1128325"/>
            <a:ext cx="2627100" cy="2273100"/>
          </a:xfrm>
          <a:prstGeom prst="rect">
            <a:avLst/>
          </a:prstGeom>
          <a:noFill/>
          <a:ln>
            <a:noFill/>
          </a:ln>
        </p:spPr>
      </p:sp>
      <p:sp>
        <p:nvSpPr>
          <p:cNvPr id="523" name="Google Shape;523;p40"/>
          <p:cNvSpPr/>
          <p:nvPr>
            <p:ph idx="3" type="pic"/>
          </p:nvPr>
        </p:nvSpPr>
        <p:spPr>
          <a:xfrm>
            <a:off x="311725" y="1128325"/>
            <a:ext cx="2627100" cy="2273100"/>
          </a:xfrm>
          <a:prstGeom prst="rect">
            <a:avLst/>
          </a:prstGeom>
          <a:noFill/>
          <a:ln>
            <a:noFill/>
          </a:ln>
        </p:spPr>
      </p:sp>
      <p:sp>
        <p:nvSpPr>
          <p:cNvPr id="524" name="Google Shape;524;p4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5" name="Google Shape;525;p40"/>
          <p:cNvSpPr/>
          <p:nvPr>
            <p:ph idx="5" type="pic"/>
          </p:nvPr>
        </p:nvSpPr>
        <p:spPr>
          <a:xfrm>
            <a:off x="3255250" y="1128325"/>
            <a:ext cx="2627100" cy="2273100"/>
          </a:xfrm>
          <a:prstGeom prst="rect">
            <a:avLst/>
          </a:prstGeom>
          <a:noFill/>
          <a:ln>
            <a:noFill/>
          </a:ln>
        </p:spPr>
      </p:sp>
      <p:sp>
        <p:nvSpPr>
          <p:cNvPr id="526" name="Google Shape;526;p4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7" name="Google Shape;52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9" name="Google Shape;529;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30" name="Google Shape;530;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31" name="Shape 531"/>
        <p:cNvGrpSpPr/>
        <p:nvPr/>
      </p:nvGrpSpPr>
      <p:grpSpPr>
        <a:xfrm>
          <a:off x="0" y="0"/>
          <a:ext cx="0" cy="0"/>
          <a:chOff x="0" y="0"/>
          <a:chExt cx="0" cy="0"/>
        </a:xfrm>
      </p:grpSpPr>
      <p:sp>
        <p:nvSpPr>
          <p:cNvPr id="532" name="Google Shape;53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33" name="Shape 533"/>
        <p:cNvGrpSpPr/>
        <p:nvPr/>
      </p:nvGrpSpPr>
      <p:grpSpPr>
        <a:xfrm>
          <a:off x="0" y="0"/>
          <a:ext cx="0" cy="0"/>
          <a:chOff x="0" y="0"/>
          <a:chExt cx="0" cy="0"/>
        </a:xfrm>
      </p:grpSpPr>
      <p:sp>
        <p:nvSpPr>
          <p:cNvPr id="534" name="Google Shape;534;p42"/>
          <p:cNvSpPr/>
          <p:nvPr>
            <p:ph idx="2" type="pic"/>
          </p:nvPr>
        </p:nvSpPr>
        <p:spPr>
          <a:xfrm>
            <a:off x="3389600" y="118913"/>
            <a:ext cx="1643700" cy="1535100"/>
          </a:xfrm>
          <a:prstGeom prst="rect">
            <a:avLst/>
          </a:prstGeom>
          <a:noFill/>
          <a:ln>
            <a:noFill/>
          </a:ln>
        </p:spPr>
      </p:sp>
      <p:sp>
        <p:nvSpPr>
          <p:cNvPr id="535" name="Google Shape;535;p42"/>
          <p:cNvSpPr/>
          <p:nvPr>
            <p:ph idx="3" type="pic"/>
          </p:nvPr>
        </p:nvSpPr>
        <p:spPr>
          <a:xfrm>
            <a:off x="5195935" y="118913"/>
            <a:ext cx="1643700" cy="1535100"/>
          </a:xfrm>
          <a:prstGeom prst="rect">
            <a:avLst/>
          </a:prstGeom>
          <a:noFill/>
          <a:ln>
            <a:noFill/>
          </a:ln>
        </p:spPr>
      </p:sp>
      <p:sp>
        <p:nvSpPr>
          <p:cNvPr id="536" name="Google Shape;536;p42"/>
          <p:cNvSpPr/>
          <p:nvPr>
            <p:ph idx="4" type="pic"/>
          </p:nvPr>
        </p:nvSpPr>
        <p:spPr>
          <a:xfrm>
            <a:off x="7002270" y="118913"/>
            <a:ext cx="1643700" cy="1535100"/>
          </a:xfrm>
          <a:prstGeom prst="rect">
            <a:avLst/>
          </a:prstGeom>
          <a:noFill/>
          <a:ln>
            <a:noFill/>
          </a:ln>
        </p:spPr>
      </p:sp>
      <p:sp>
        <p:nvSpPr>
          <p:cNvPr id="537" name="Google Shape;537;p42"/>
          <p:cNvSpPr/>
          <p:nvPr>
            <p:ph idx="5" type="pic"/>
          </p:nvPr>
        </p:nvSpPr>
        <p:spPr>
          <a:xfrm>
            <a:off x="3389588" y="1804212"/>
            <a:ext cx="1643700" cy="1535100"/>
          </a:xfrm>
          <a:prstGeom prst="rect">
            <a:avLst/>
          </a:prstGeom>
          <a:noFill/>
          <a:ln>
            <a:noFill/>
          </a:ln>
        </p:spPr>
      </p:sp>
      <p:sp>
        <p:nvSpPr>
          <p:cNvPr id="538" name="Google Shape;538;p42"/>
          <p:cNvSpPr/>
          <p:nvPr>
            <p:ph idx="6" type="pic"/>
          </p:nvPr>
        </p:nvSpPr>
        <p:spPr>
          <a:xfrm>
            <a:off x="5195922" y="1804212"/>
            <a:ext cx="1643700" cy="1535100"/>
          </a:xfrm>
          <a:prstGeom prst="rect">
            <a:avLst/>
          </a:prstGeom>
          <a:noFill/>
          <a:ln>
            <a:noFill/>
          </a:ln>
        </p:spPr>
      </p:sp>
      <p:sp>
        <p:nvSpPr>
          <p:cNvPr id="539" name="Google Shape;539;p42"/>
          <p:cNvSpPr/>
          <p:nvPr>
            <p:ph idx="7" type="pic"/>
          </p:nvPr>
        </p:nvSpPr>
        <p:spPr>
          <a:xfrm>
            <a:off x="7002257" y="1804212"/>
            <a:ext cx="1643700" cy="1535100"/>
          </a:xfrm>
          <a:prstGeom prst="rect">
            <a:avLst/>
          </a:prstGeom>
          <a:noFill/>
          <a:ln>
            <a:noFill/>
          </a:ln>
        </p:spPr>
      </p:sp>
      <p:sp>
        <p:nvSpPr>
          <p:cNvPr id="540" name="Google Shape;540;p4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1" name="Google Shape;541;p42"/>
          <p:cNvSpPr/>
          <p:nvPr>
            <p:ph idx="8" type="pic"/>
          </p:nvPr>
        </p:nvSpPr>
        <p:spPr>
          <a:xfrm>
            <a:off x="3389588" y="3489487"/>
            <a:ext cx="1643700" cy="1535100"/>
          </a:xfrm>
          <a:prstGeom prst="rect">
            <a:avLst/>
          </a:prstGeom>
          <a:noFill/>
          <a:ln>
            <a:noFill/>
          </a:ln>
        </p:spPr>
      </p:sp>
      <p:sp>
        <p:nvSpPr>
          <p:cNvPr id="542" name="Google Shape;542;p42"/>
          <p:cNvSpPr/>
          <p:nvPr>
            <p:ph idx="9" type="pic"/>
          </p:nvPr>
        </p:nvSpPr>
        <p:spPr>
          <a:xfrm>
            <a:off x="5195922" y="3489487"/>
            <a:ext cx="1643700" cy="1535100"/>
          </a:xfrm>
          <a:prstGeom prst="rect">
            <a:avLst/>
          </a:prstGeom>
          <a:noFill/>
          <a:ln>
            <a:noFill/>
          </a:ln>
        </p:spPr>
      </p:sp>
      <p:sp>
        <p:nvSpPr>
          <p:cNvPr id="543" name="Google Shape;54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7" name="Google Shape;7;p1"/>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8" name="Google Shape;8;p1"/>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3"/>
          <p:cNvSpPr txBox="1"/>
          <p:nvPr>
            <p:ph type="title"/>
          </p:nvPr>
        </p:nvSpPr>
        <p:spPr>
          <a:xfrm>
            <a:off x="274200" y="1439475"/>
            <a:ext cx="58065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sz="5000">
                <a:solidFill>
                  <a:schemeClr val="dk2"/>
                </a:solidFill>
              </a:rPr>
              <a:t>SQL Presentation -</a:t>
            </a:r>
            <a:endParaRPr b="1" sz="5000">
              <a:solidFill>
                <a:schemeClr val="dk2"/>
              </a:solidFill>
            </a:endParaRPr>
          </a:p>
          <a:p>
            <a:pPr indent="0" lvl="0" marL="0" rtl="0" algn="l">
              <a:spcBef>
                <a:spcPts val="0"/>
              </a:spcBef>
              <a:spcAft>
                <a:spcPts val="0"/>
              </a:spcAft>
              <a:buNone/>
            </a:pPr>
            <a:r>
              <a:rPr b="1" lang="en" sz="5000">
                <a:solidFill>
                  <a:schemeClr val="dk2"/>
                </a:solidFill>
              </a:rPr>
              <a:t>Entertainment </a:t>
            </a:r>
            <a:r>
              <a:rPr b="1" lang="en">
                <a:solidFill>
                  <a:schemeClr val="dk2"/>
                </a:solidFill>
              </a:rPr>
              <a:t> </a:t>
            </a:r>
            <a:endParaRPr b="1">
              <a:solidFill>
                <a:schemeClr val="dk2"/>
              </a:solidFill>
            </a:endParaRPr>
          </a:p>
        </p:txBody>
      </p:sp>
      <p:sp>
        <p:nvSpPr>
          <p:cNvPr id="549" name="Google Shape;549;p43"/>
          <p:cNvSpPr txBox="1"/>
          <p:nvPr/>
        </p:nvSpPr>
        <p:spPr>
          <a:xfrm>
            <a:off x="274200" y="3546725"/>
            <a:ext cx="4938900" cy="10002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1500">
                <a:solidFill>
                  <a:schemeClr val="lt2"/>
                </a:solidFill>
                <a:latin typeface="Red Hat Display"/>
                <a:ea typeface="Red Hat Display"/>
                <a:cs typeface="Red Hat Display"/>
                <a:sym typeface="Red Hat Display"/>
              </a:rPr>
              <a:t>Core C: Alizeh Sultan, Yutong Gao, Xiaoyu Ma, Maria Chen, </a:t>
            </a:r>
            <a:r>
              <a:rPr lang="en" sz="1500">
                <a:solidFill>
                  <a:schemeClr val="lt2"/>
                </a:solidFill>
                <a:latin typeface="Red Hat Display"/>
                <a:ea typeface="Red Hat Display"/>
                <a:cs typeface="Red Hat Display"/>
                <a:sym typeface="Red Hat Display"/>
              </a:rPr>
              <a:t>Chia-Chun Hung</a:t>
            </a:r>
            <a:r>
              <a:rPr lang="en" sz="1500">
                <a:solidFill>
                  <a:schemeClr val="lt2"/>
                </a:solidFill>
                <a:latin typeface="Red Hat Display"/>
                <a:ea typeface="Red Hat Display"/>
                <a:cs typeface="Red Hat Display"/>
                <a:sym typeface="Red Hat Display"/>
              </a:rPr>
              <a:t>, </a:t>
            </a:r>
            <a:r>
              <a:rPr lang="en" sz="1500">
                <a:solidFill>
                  <a:schemeClr val="lt2"/>
                </a:solidFill>
                <a:latin typeface="Red Hat Display"/>
                <a:ea typeface="Red Hat Display"/>
                <a:cs typeface="Red Hat Display"/>
                <a:sym typeface="Red Hat Display"/>
              </a:rPr>
              <a:t>Shao-Chueh Liu, Jiajun Ma, Joshua Zhang</a:t>
            </a:r>
            <a:endParaRPr sz="1500">
              <a:solidFill>
                <a:schemeClr val="lt2"/>
              </a:solidFill>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4"/>
          <p:cNvSpPr/>
          <p:nvPr/>
        </p:nvSpPr>
        <p:spPr>
          <a:xfrm>
            <a:off x="5462554" y="17309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1"/>
              </a:solidFill>
              <a:latin typeface="Red Hat Display"/>
              <a:ea typeface="Red Hat Display"/>
              <a:cs typeface="Red Hat Display"/>
              <a:sym typeface="Red Hat Display"/>
            </a:endParaRPr>
          </a:p>
        </p:txBody>
      </p:sp>
      <p:sp>
        <p:nvSpPr>
          <p:cNvPr id="555" name="Google Shape;555;p44"/>
          <p:cNvSpPr/>
          <p:nvPr/>
        </p:nvSpPr>
        <p:spPr>
          <a:xfrm>
            <a:off x="5462554" y="22499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1"/>
              </a:solidFill>
              <a:latin typeface="Red Hat Display"/>
              <a:ea typeface="Red Hat Display"/>
              <a:cs typeface="Red Hat Display"/>
              <a:sym typeface="Red Hat Display"/>
            </a:endParaRPr>
          </a:p>
        </p:txBody>
      </p:sp>
      <p:sp>
        <p:nvSpPr>
          <p:cNvPr id="556" name="Google Shape;556;p44"/>
          <p:cNvSpPr/>
          <p:nvPr/>
        </p:nvSpPr>
        <p:spPr>
          <a:xfrm>
            <a:off x="5462554" y="276891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1"/>
              </a:solidFill>
              <a:latin typeface="Red Hat Display"/>
              <a:ea typeface="Red Hat Display"/>
              <a:cs typeface="Red Hat Display"/>
              <a:sym typeface="Red Hat Display"/>
            </a:endParaRPr>
          </a:p>
        </p:txBody>
      </p:sp>
      <p:sp>
        <p:nvSpPr>
          <p:cNvPr id="557" name="Google Shape;557;p44"/>
          <p:cNvSpPr/>
          <p:nvPr/>
        </p:nvSpPr>
        <p:spPr>
          <a:xfrm>
            <a:off x="5462554" y="32878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1"/>
              </a:solidFill>
              <a:latin typeface="Red Hat Display"/>
              <a:ea typeface="Red Hat Display"/>
              <a:cs typeface="Red Hat Display"/>
              <a:sym typeface="Red Hat Display"/>
            </a:endParaRPr>
          </a:p>
        </p:txBody>
      </p:sp>
      <p:sp>
        <p:nvSpPr>
          <p:cNvPr id="558" name="Google Shape;558;p44"/>
          <p:cNvSpPr/>
          <p:nvPr/>
        </p:nvSpPr>
        <p:spPr>
          <a:xfrm>
            <a:off x="5462554" y="38068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1"/>
              </a:solidFill>
              <a:latin typeface="Red Hat Display"/>
              <a:ea typeface="Red Hat Display"/>
              <a:cs typeface="Red Hat Display"/>
              <a:sym typeface="Red Hat Display"/>
            </a:endParaRPr>
          </a:p>
        </p:txBody>
      </p:sp>
      <p:sp>
        <p:nvSpPr>
          <p:cNvPr id="559" name="Google Shape;559;p44"/>
          <p:cNvSpPr/>
          <p:nvPr/>
        </p:nvSpPr>
        <p:spPr>
          <a:xfrm>
            <a:off x="5462554" y="43258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lt1"/>
              </a:solidFill>
              <a:latin typeface="Red Hat Display"/>
              <a:ea typeface="Red Hat Display"/>
              <a:cs typeface="Red Hat Display"/>
              <a:sym typeface="Red Hat Display"/>
            </a:endParaRPr>
          </a:p>
        </p:txBody>
      </p:sp>
      <p:sp>
        <p:nvSpPr>
          <p:cNvPr id="560" name="Google Shape;560;p44"/>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000"/>
              <a:t>Our Analysis </a:t>
            </a:r>
            <a:endParaRPr sz="2000"/>
          </a:p>
        </p:txBody>
      </p:sp>
      <p:sp>
        <p:nvSpPr>
          <p:cNvPr id="561" name="Google Shape;561;p44"/>
          <p:cNvSpPr txBox="1"/>
          <p:nvPr>
            <p:ph type="title"/>
          </p:nvPr>
        </p:nvSpPr>
        <p:spPr>
          <a:xfrm>
            <a:off x="1392601" y="836575"/>
            <a:ext cx="3205200" cy="12930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Presentation</a:t>
            </a:r>
            <a:endParaRPr/>
          </a:p>
          <a:p>
            <a:pPr indent="0" lvl="0" marL="0" rtl="0" algn="l">
              <a:spcBef>
                <a:spcPts val="0"/>
              </a:spcBef>
              <a:spcAft>
                <a:spcPts val="0"/>
              </a:spcAft>
              <a:buNone/>
            </a:pPr>
            <a:r>
              <a:rPr lang="en">
                <a:solidFill>
                  <a:schemeClr val="dk2"/>
                </a:solidFill>
              </a:rPr>
              <a:t>overview</a:t>
            </a:r>
            <a:endParaRPr>
              <a:solidFill>
                <a:schemeClr val="dk2"/>
              </a:solidFill>
            </a:endParaRPr>
          </a:p>
        </p:txBody>
      </p:sp>
      <p:sp>
        <p:nvSpPr>
          <p:cNvPr id="562" name="Google Shape;562;p44"/>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000"/>
              <a:t>Our </a:t>
            </a:r>
            <a:r>
              <a:rPr lang="en" sz="2000"/>
              <a:t>Visualizations </a:t>
            </a:r>
            <a:endParaRPr sz="2000"/>
          </a:p>
        </p:txBody>
      </p:sp>
      <p:sp>
        <p:nvSpPr>
          <p:cNvPr id="563" name="Google Shape;563;p44"/>
          <p:cNvSpPr txBox="1"/>
          <p:nvPr>
            <p:ph idx="3" type="subTitle"/>
          </p:nvPr>
        </p:nvSpPr>
        <p:spPr>
          <a:xfrm>
            <a:off x="5667625" y="2769450"/>
            <a:ext cx="2934000" cy="30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AI Analysis </a:t>
            </a:r>
            <a:endParaRPr sz="2000"/>
          </a:p>
        </p:txBody>
      </p:sp>
      <p:sp>
        <p:nvSpPr>
          <p:cNvPr id="564" name="Google Shape;564;p44"/>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000"/>
              <a:t>AI Visualization</a:t>
            </a:r>
            <a:endParaRPr sz="2000"/>
          </a:p>
        </p:txBody>
      </p:sp>
      <p:sp>
        <p:nvSpPr>
          <p:cNvPr id="565" name="Google Shape;565;p44"/>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000"/>
              <a:t>Comparative Analysis </a:t>
            </a:r>
            <a:endParaRPr sz="2000"/>
          </a:p>
        </p:txBody>
      </p:sp>
      <p:sp>
        <p:nvSpPr>
          <p:cNvPr id="566" name="Google Shape;566;p44"/>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000"/>
              <a:t>Individual </a:t>
            </a:r>
            <a:r>
              <a:rPr lang="en" sz="2000"/>
              <a:t>Contributions</a:t>
            </a:r>
            <a:r>
              <a:rPr lang="en" sz="2000"/>
              <a:t>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5"/>
          <p:cNvSpPr txBox="1"/>
          <p:nvPr>
            <p:ph idx="4294967295" type="title"/>
          </p:nvPr>
        </p:nvSpPr>
        <p:spPr>
          <a:xfrm>
            <a:off x="228600" y="46500"/>
            <a:ext cx="8526000" cy="821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4000">
                <a:solidFill>
                  <a:schemeClr val="lt1"/>
                </a:solidFill>
              </a:rPr>
              <a:t>Agent Performance Analysis</a:t>
            </a:r>
            <a:r>
              <a:rPr lang="en" sz="4000">
                <a:solidFill>
                  <a:schemeClr val="lt1"/>
                </a:solidFill>
              </a:rPr>
              <a:t> </a:t>
            </a:r>
            <a:endParaRPr sz="4000"/>
          </a:p>
        </p:txBody>
      </p:sp>
      <p:sp>
        <p:nvSpPr>
          <p:cNvPr id="572" name="Google Shape;572;p45"/>
          <p:cNvSpPr txBox="1"/>
          <p:nvPr/>
        </p:nvSpPr>
        <p:spPr>
          <a:xfrm>
            <a:off x="349700" y="819200"/>
            <a:ext cx="5504100" cy="120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lt1"/>
                </a:solidFill>
                <a:highlight>
                  <a:schemeClr val="dk1"/>
                </a:highlight>
              </a:rPr>
              <a:t>Matrix:</a:t>
            </a:r>
            <a:endParaRPr b="1">
              <a:solidFill>
                <a:schemeClr val="lt1"/>
              </a:solidFill>
              <a:highlight>
                <a:schemeClr val="dk1"/>
              </a:highlight>
            </a:endParaRPr>
          </a:p>
          <a:p>
            <a:pPr indent="-311150" lvl="0" marL="457200" rtl="0" algn="l">
              <a:lnSpc>
                <a:spcPct val="115000"/>
              </a:lnSpc>
              <a:spcBef>
                <a:spcPts val="0"/>
              </a:spcBef>
              <a:spcAft>
                <a:spcPts val="0"/>
              </a:spcAft>
              <a:buClr>
                <a:schemeClr val="lt1"/>
              </a:buClr>
              <a:buSzPts val="1300"/>
              <a:buChar char="●"/>
            </a:pPr>
            <a:r>
              <a:rPr b="1" lang="en" sz="1300">
                <a:solidFill>
                  <a:schemeClr val="lt1"/>
                </a:solidFill>
                <a:highlight>
                  <a:schemeClr val="dk1"/>
                </a:highlight>
              </a:rPr>
              <a:t>Total Net Revenue by Agent</a:t>
            </a:r>
            <a:endParaRPr b="1" sz="1300">
              <a:solidFill>
                <a:schemeClr val="lt1"/>
              </a:solidFill>
              <a:highlight>
                <a:schemeClr val="dk1"/>
              </a:highlight>
            </a:endParaRPr>
          </a:p>
          <a:p>
            <a:pPr indent="-311150" lvl="0" marL="457200" rtl="0" algn="l">
              <a:lnSpc>
                <a:spcPct val="115000"/>
              </a:lnSpc>
              <a:spcBef>
                <a:spcPts val="0"/>
              </a:spcBef>
              <a:spcAft>
                <a:spcPts val="0"/>
              </a:spcAft>
              <a:buClr>
                <a:schemeClr val="lt1"/>
              </a:buClr>
              <a:buSzPts val="1300"/>
              <a:buChar char="●"/>
            </a:pPr>
            <a:r>
              <a:rPr b="1" lang="en" sz="1300">
                <a:solidFill>
                  <a:schemeClr val="lt1"/>
                </a:solidFill>
              </a:rPr>
              <a:t>Average Net Revenue per Contract</a:t>
            </a:r>
            <a:endParaRPr b="1" sz="1300">
              <a:solidFill>
                <a:schemeClr val="lt1"/>
              </a:solidFill>
            </a:endParaRPr>
          </a:p>
          <a:p>
            <a:pPr indent="-311150" lvl="0" marL="457200" rtl="0" algn="l">
              <a:lnSpc>
                <a:spcPct val="115000"/>
              </a:lnSpc>
              <a:spcBef>
                <a:spcPts val="0"/>
              </a:spcBef>
              <a:spcAft>
                <a:spcPts val="0"/>
              </a:spcAft>
              <a:buClr>
                <a:schemeClr val="lt1"/>
              </a:buClr>
              <a:buSzPts val="1300"/>
              <a:buChar char="●"/>
            </a:pPr>
            <a:r>
              <a:rPr b="1" lang="en" sz="1300">
                <a:solidFill>
                  <a:schemeClr val="lt1"/>
                </a:solidFill>
              </a:rPr>
              <a:t>ROI: Revenue Generated per Dollar of Commission</a:t>
            </a:r>
            <a:endParaRPr b="1" sz="1300">
              <a:solidFill>
                <a:schemeClr val="lt1"/>
              </a:solidFill>
            </a:endParaRPr>
          </a:p>
          <a:p>
            <a:pPr indent="0" lvl="0" marL="0" rtl="0" algn="l">
              <a:lnSpc>
                <a:spcPct val="115000"/>
              </a:lnSpc>
              <a:spcBef>
                <a:spcPts val="0"/>
              </a:spcBef>
              <a:spcAft>
                <a:spcPts val="0"/>
              </a:spcAft>
              <a:buNone/>
            </a:pPr>
            <a:r>
              <a:t/>
            </a:r>
            <a:endParaRPr b="1">
              <a:solidFill>
                <a:schemeClr val="lt1"/>
              </a:solidFill>
              <a:highlight>
                <a:schemeClr val="dk1"/>
              </a:highlight>
            </a:endParaRPr>
          </a:p>
          <a:p>
            <a:pPr indent="0" lvl="0" marL="0" rtl="0" algn="l">
              <a:lnSpc>
                <a:spcPct val="115000"/>
              </a:lnSpc>
              <a:spcBef>
                <a:spcPts val="0"/>
              </a:spcBef>
              <a:spcAft>
                <a:spcPts val="0"/>
              </a:spcAft>
              <a:buNone/>
            </a:pPr>
            <a:r>
              <a:t/>
            </a:r>
            <a:endParaRPr b="1">
              <a:solidFill>
                <a:schemeClr val="lt1"/>
              </a:solidFill>
              <a:highlight>
                <a:schemeClr val="dk1"/>
              </a:highlight>
            </a:endParaRPr>
          </a:p>
        </p:txBody>
      </p:sp>
      <p:sp>
        <p:nvSpPr>
          <p:cNvPr id="573" name="Google Shape;573;p45"/>
          <p:cNvSpPr txBox="1"/>
          <p:nvPr/>
        </p:nvSpPr>
        <p:spPr>
          <a:xfrm>
            <a:off x="349700" y="1907325"/>
            <a:ext cx="4945800" cy="23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What We Found</a:t>
            </a:r>
            <a:r>
              <a:rPr b="1" lang="en">
                <a:solidFill>
                  <a:schemeClr val="lt1"/>
                </a:solidFill>
                <a:latin typeface="Red Hat Display"/>
                <a:ea typeface="Red Hat Display"/>
                <a:cs typeface="Red Hat Display"/>
                <a:sym typeface="Red Hat Display"/>
              </a:rPr>
              <a:t>: </a:t>
            </a:r>
            <a:endParaRPr b="1">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rgbClr val="00FF00"/>
                </a:solidFill>
                <a:latin typeface="Red Hat Display"/>
                <a:ea typeface="Red Hat Display"/>
                <a:cs typeface="Red Hat Display"/>
                <a:sym typeface="Red Hat Display"/>
              </a:rPr>
              <a:t>Carol Viescas: </a:t>
            </a:r>
            <a:r>
              <a:rPr b="1" lang="en" sz="1300">
                <a:solidFill>
                  <a:schemeClr val="lt1"/>
                </a:solidFill>
                <a:latin typeface="Red Hat Display"/>
                <a:ea typeface="Red Hat Display"/>
                <a:cs typeface="Red Hat Display"/>
                <a:sym typeface="Red Hat Display"/>
              </a:rPr>
              <a:t>drives the highest total net revenue because she signs the most contracts</a:t>
            </a:r>
            <a:endParaRPr b="1" sz="1300">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rgbClr val="00FF00"/>
                </a:solidFill>
                <a:latin typeface="Red Hat Display"/>
                <a:ea typeface="Red Hat Display"/>
                <a:cs typeface="Red Hat Display"/>
                <a:sym typeface="Red Hat Display"/>
              </a:rPr>
              <a:t>John Kennedy: </a:t>
            </a:r>
            <a:r>
              <a:rPr b="1" lang="en" sz="1300">
                <a:solidFill>
                  <a:schemeClr val="lt1"/>
                </a:solidFill>
                <a:latin typeface="Red Hat Display"/>
                <a:ea typeface="Red Hat Display"/>
                <a:cs typeface="Red Hat Display"/>
                <a:sym typeface="Red Hat Display"/>
              </a:rPr>
              <a:t> leads in deal quality with the highest net revenue per contract, showing strong pricing and negotiation skills</a:t>
            </a:r>
            <a:endParaRPr b="1" sz="1300">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rgbClr val="00FF00"/>
                </a:solidFill>
                <a:latin typeface="Red Hat Display"/>
                <a:ea typeface="Red Hat Display"/>
                <a:cs typeface="Red Hat Display"/>
                <a:sym typeface="Red Hat Display"/>
              </a:rPr>
              <a:t>Caleb: </a:t>
            </a:r>
            <a:r>
              <a:rPr b="1" lang="en" sz="1300">
                <a:solidFill>
                  <a:schemeClr val="lt1"/>
                </a:solidFill>
                <a:latin typeface="Red Hat Display"/>
                <a:ea typeface="Red Hat Display"/>
                <a:cs typeface="Red Hat Display"/>
                <a:sym typeface="Red Hat Display"/>
              </a:rPr>
              <a:t> the most efficient overall. He ranks near the top in both per-contract value and ROI</a:t>
            </a:r>
            <a:endParaRPr b="1" sz="1300">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rgbClr val="00FF00"/>
                </a:solidFill>
                <a:latin typeface="Red Hat Display"/>
                <a:ea typeface="Red Hat Display"/>
                <a:cs typeface="Red Hat Display"/>
                <a:sym typeface="Red Hat Display"/>
              </a:rPr>
              <a:t>Maria</a:t>
            </a:r>
            <a:r>
              <a:rPr b="1" lang="en" sz="1300">
                <a:solidFill>
                  <a:schemeClr val="lt1"/>
                </a:solidFill>
                <a:latin typeface="Red Hat Display"/>
                <a:ea typeface="Red Hat Display"/>
                <a:cs typeface="Red Hat Display"/>
                <a:sym typeface="Red Hat Display"/>
              </a:rPr>
              <a:t> and </a:t>
            </a:r>
            <a:r>
              <a:rPr b="1" lang="en" sz="1300">
                <a:solidFill>
                  <a:srgbClr val="00FF00"/>
                </a:solidFill>
                <a:latin typeface="Red Hat Display"/>
                <a:ea typeface="Red Hat Display"/>
                <a:cs typeface="Red Hat Display"/>
                <a:sym typeface="Red Hat Display"/>
              </a:rPr>
              <a:t>Karen:  </a:t>
            </a:r>
            <a:r>
              <a:rPr b="1" lang="en" sz="1300">
                <a:solidFill>
                  <a:schemeClr val="lt1"/>
                </a:solidFill>
                <a:latin typeface="Red Hat Display"/>
                <a:ea typeface="Red Hat Display"/>
                <a:cs typeface="Red Hat Display"/>
                <a:sym typeface="Red Hat Display"/>
              </a:rPr>
              <a:t>underperform across all three metrics and need targeted support. </a:t>
            </a:r>
            <a:endParaRPr b="1" sz="1300">
              <a:solidFill>
                <a:schemeClr val="lt1"/>
              </a:solidFill>
              <a:latin typeface="Red Hat Display"/>
              <a:ea typeface="Red Hat Display"/>
              <a:cs typeface="Red Hat Display"/>
              <a:sym typeface="Red Hat Display"/>
            </a:endParaRPr>
          </a:p>
        </p:txBody>
      </p:sp>
      <p:sp>
        <p:nvSpPr>
          <p:cNvPr id="574" name="Google Shape;574;p45"/>
          <p:cNvSpPr txBox="1"/>
          <p:nvPr/>
        </p:nvSpPr>
        <p:spPr>
          <a:xfrm>
            <a:off x="349700" y="4029650"/>
            <a:ext cx="6597000" cy="9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Recommendations:</a:t>
            </a:r>
            <a:endParaRPr b="1">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chemeClr val="lt1"/>
                </a:solidFill>
                <a:latin typeface="Red Hat Display"/>
                <a:ea typeface="Red Hat Display"/>
                <a:cs typeface="Red Hat Display"/>
                <a:sym typeface="Red Hat Display"/>
              </a:rPr>
              <a:t>Continue to route strong opportunities to Carol and John</a:t>
            </a:r>
            <a:endParaRPr b="1" sz="1300">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chemeClr val="lt1"/>
                </a:solidFill>
                <a:latin typeface="Red Hat Display"/>
                <a:ea typeface="Red Hat Display"/>
                <a:cs typeface="Red Hat Display"/>
                <a:sym typeface="Red Hat Display"/>
              </a:rPr>
              <a:t>Expand opportunities for Caleb</a:t>
            </a:r>
            <a:endParaRPr b="1" sz="1300">
              <a:solidFill>
                <a:schemeClr val="lt1"/>
              </a:solidFill>
              <a:latin typeface="Red Hat Display"/>
              <a:ea typeface="Red Hat Display"/>
              <a:cs typeface="Red Hat Display"/>
              <a:sym typeface="Red Hat Display"/>
            </a:endParaRPr>
          </a:p>
          <a:p>
            <a:pPr indent="-311150" lvl="0" marL="457200" rtl="0" algn="l">
              <a:spcBef>
                <a:spcPts val="0"/>
              </a:spcBef>
              <a:spcAft>
                <a:spcPts val="0"/>
              </a:spcAft>
              <a:buClr>
                <a:schemeClr val="lt1"/>
              </a:buClr>
              <a:buSzPts val="1300"/>
              <a:buFont typeface="Red Hat Display"/>
              <a:buChar char="-"/>
            </a:pPr>
            <a:r>
              <a:rPr b="1" lang="en" sz="1300">
                <a:solidFill>
                  <a:schemeClr val="lt1"/>
                </a:solidFill>
                <a:latin typeface="Red Hat Display"/>
                <a:ea typeface="Red Hat Display"/>
                <a:cs typeface="Red Hat Display"/>
                <a:sym typeface="Red Hat Display"/>
              </a:rPr>
              <a:t>Provide pricing and negotiation coaching for Maria and Karen.</a:t>
            </a:r>
            <a:endParaRPr b="1" sz="1300">
              <a:solidFill>
                <a:schemeClr val="lt1"/>
              </a:solidFill>
              <a:latin typeface="Red Hat Display"/>
              <a:ea typeface="Red Hat Display"/>
              <a:cs typeface="Red Hat Display"/>
              <a:sym typeface="Red Hat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6"/>
          <p:cNvSpPr txBox="1"/>
          <p:nvPr>
            <p:ph idx="4294967295" type="title"/>
          </p:nvPr>
        </p:nvSpPr>
        <p:spPr>
          <a:xfrm>
            <a:off x="355950" y="228600"/>
            <a:ext cx="8526000" cy="82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chemeClr val="lt1"/>
                </a:solidFill>
              </a:rPr>
              <a:t>Entertainers Revenue Analysis </a:t>
            </a:r>
            <a:endParaRPr sz="4000">
              <a:solidFill>
                <a:schemeClr val="lt1"/>
              </a:solidFill>
            </a:endParaRPr>
          </a:p>
        </p:txBody>
      </p:sp>
      <p:sp>
        <p:nvSpPr>
          <p:cNvPr id="580" name="Google Shape;580;p46"/>
          <p:cNvSpPr txBox="1"/>
          <p:nvPr>
            <p:ph idx="2" type="subTitle"/>
          </p:nvPr>
        </p:nvSpPr>
        <p:spPr>
          <a:xfrm>
            <a:off x="469800" y="1234800"/>
            <a:ext cx="6126600" cy="566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A small group of entertainers drive most of the company’s </a:t>
            </a:r>
            <a:r>
              <a:rPr b="1" lang="en" sz="1400"/>
              <a:t>reach, loyalty, and revenue</a:t>
            </a:r>
            <a:r>
              <a:rPr lang="en" sz="1400"/>
              <a:t>, while underpricing and portfolio imbalance limit overall profitability.</a:t>
            </a:r>
            <a:endParaRPr sz="1400"/>
          </a:p>
          <a:p>
            <a:pPr indent="0" lvl="0" marL="0" rtl="0" algn="l">
              <a:spcBef>
                <a:spcPts val="0"/>
              </a:spcBef>
              <a:spcAft>
                <a:spcPts val="0"/>
              </a:spcAft>
              <a:buNone/>
            </a:pPr>
            <a:r>
              <a:t/>
            </a:r>
            <a:endParaRPr sz="1400"/>
          </a:p>
        </p:txBody>
      </p:sp>
      <p:sp>
        <p:nvSpPr>
          <p:cNvPr id="581" name="Google Shape;581;p46"/>
          <p:cNvSpPr txBox="1"/>
          <p:nvPr>
            <p:ph idx="2" type="subTitle"/>
          </p:nvPr>
        </p:nvSpPr>
        <p:spPr>
          <a:xfrm>
            <a:off x="516675" y="2897875"/>
            <a:ext cx="8298300" cy="140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Recommendations:</a:t>
            </a:r>
            <a:endParaRPr sz="1400"/>
          </a:p>
          <a:p>
            <a:pPr indent="-317500" lvl="0" marL="457200" rtl="0" algn="l">
              <a:spcBef>
                <a:spcPts val="0"/>
              </a:spcBef>
              <a:spcAft>
                <a:spcPts val="0"/>
              </a:spcAft>
              <a:buSzPts val="1400"/>
              <a:buChar char="●"/>
            </a:pPr>
            <a:r>
              <a:rPr lang="en" sz="1400"/>
              <a:t>Double down on top performers</a:t>
            </a:r>
            <a:r>
              <a:rPr lang="en" sz="1400"/>
              <a:t> (marketing, pricing, priority access)</a:t>
            </a:r>
            <a:endParaRPr sz="1400"/>
          </a:p>
          <a:p>
            <a:pPr indent="-317500" lvl="0" marL="457200" rtl="0" algn="l">
              <a:spcBef>
                <a:spcPts val="0"/>
              </a:spcBef>
              <a:spcAft>
                <a:spcPts val="0"/>
              </a:spcAft>
              <a:buSzPts val="1400"/>
              <a:buChar char="●"/>
            </a:pPr>
            <a:r>
              <a:rPr lang="en" sz="1400"/>
              <a:t>Increase prices for high-volume entertainers with low revenue</a:t>
            </a:r>
            <a:r>
              <a:rPr lang="en" sz="1400"/>
              <a:t> (Carol Peacock Trio)</a:t>
            </a:r>
            <a:endParaRPr sz="1400"/>
          </a:p>
          <a:p>
            <a:pPr indent="-317500" lvl="0" marL="457200" rtl="0" algn="l">
              <a:spcBef>
                <a:spcPts val="0"/>
              </a:spcBef>
              <a:spcAft>
                <a:spcPts val="0"/>
              </a:spcAft>
              <a:buSzPts val="1400"/>
              <a:buChar char="●"/>
            </a:pPr>
            <a:r>
              <a:rPr lang="en" sz="1400"/>
              <a:t>Protect premium niche acts </a:t>
            </a:r>
            <a:r>
              <a:rPr lang="en" sz="1400"/>
              <a:t>(Coldwater Cattle Company)</a:t>
            </a:r>
            <a:endParaRPr sz="1400"/>
          </a:p>
          <a:p>
            <a:pPr indent="-317500" lvl="0" marL="457200" rtl="0" algn="l">
              <a:spcBef>
                <a:spcPts val="0"/>
              </a:spcBef>
              <a:spcAft>
                <a:spcPts val="0"/>
              </a:spcAft>
              <a:buSzPts val="1400"/>
              <a:buChar char="●"/>
            </a:pPr>
            <a:r>
              <a:rPr lang="en" sz="1400"/>
              <a:t>Intervene or phase out consistently weak performers</a:t>
            </a:r>
            <a:endParaRPr sz="1400"/>
          </a:p>
          <a:p>
            <a:pPr indent="-317500" lvl="0" marL="457200" rtl="0" algn="l">
              <a:spcBef>
                <a:spcPts val="0"/>
              </a:spcBef>
              <a:spcAft>
                <a:spcPts val="0"/>
              </a:spcAft>
              <a:buSzPts val="1400"/>
              <a:buChar char="●"/>
            </a:pPr>
            <a:r>
              <a:rPr lang="en" sz="1400"/>
              <a:t>Rebalance talent portfolio toward high-performing styles</a:t>
            </a:r>
            <a:r>
              <a:rPr lang="en" sz="1400"/>
              <a:t> (60’s Music, Country, Standards)</a:t>
            </a:r>
            <a:endParaRPr sz="1400"/>
          </a:p>
        </p:txBody>
      </p:sp>
      <p:sp>
        <p:nvSpPr>
          <p:cNvPr id="582" name="Google Shape;582;p46"/>
          <p:cNvSpPr txBox="1"/>
          <p:nvPr>
            <p:ph idx="2" type="subTitle"/>
          </p:nvPr>
        </p:nvSpPr>
        <p:spPr>
          <a:xfrm>
            <a:off x="469800" y="2049150"/>
            <a:ext cx="7121100" cy="1045200"/>
          </a:xfrm>
          <a:prstGeom prst="rect">
            <a:avLst/>
          </a:prstGeom>
        </p:spPr>
        <p:txBody>
          <a:bodyPr anchorCtr="0" anchor="t" bIns="91425" lIns="0" spcFirstLastPara="1" rIns="91425" wrap="square" tIns="0">
            <a:noAutofit/>
          </a:bodyPr>
          <a:lstStyle/>
          <a:p>
            <a:pPr indent="-317500" lvl="0" marL="457200" rtl="0" algn="l">
              <a:spcBef>
                <a:spcPts val="0"/>
              </a:spcBef>
              <a:spcAft>
                <a:spcPts val="0"/>
              </a:spcAft>
              <a:buSzPts val="1400"/>
              <a:buAutoNum type="arabicPeriod"/>
            </a:pPr>
            <a:r>
              <a:rPr lang="en" sz="1400"/>
              <a:t>Customer Reach (Diversity)</a:t>
            </a:r>
            <a:endParaRPr sz="1400"/>
          </a:p>
          <a:p>
            <a:pPr indent="-317500" lvl="0" marL="457200" rtl="0" algn="l">
              <a:spcBef>
                <a:spcPts val="0"/>
              </a:spcBef>
              <a:spcAft>
                <a:spcPts val="0"/>
              </a:spcAft>
              <a:buSzPts val="1400"/>
              <a:buAutoNum type="arabicPeriod"/>
            </a:pPr>
            <a:r>
              <a:rPr lang="en" sz="1400"/>
              <a:t>Customer Loyalty (Repeat Bookings ≥ 2)</a:t>
            </a:r>
            <a:endParaRPr sz="1400"/>
          </a:p>
          <a:p>
            <a:pPr indent="-317500" lvl="0" marL="457200" rtl="0" algn="l">
              <a:spcBef>
                <a:spcPts val="0"/>
              </a:spcBef>
              <a:spcAft>
                <a:spcPts val="0"/>
              </a:spcAft>
              <a:buSzPts val="1400"/>
              <a:buAutoNum type="arabicPeriod"/>
            </a:pPr>
            <a:r>
              <a:rPr lang="en" sz="1400"/>
              <a:t>Profitability (Avg Revenue per Engagement)</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7"/>
          <p:cNvSpPr txBox="1"/>
          <p:nvPr>
            <p:ph idx="1" type="subTitle"/>
          </p:nvPr>
        </p:nvSpPr>
        <p:spPr>
          <a:xfrm>
            <a:off x="469800" y="1797138"/>
            <a:ext cx="8298300" cy="2893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Key Insights: </a:t>
            </a:r>
            <a:endParaRPr/>
          </a:p>
          <a:p>
            <a:pPr indent="-317500" lvl="0" marL="457200" rtl="0" algn="l">
              <a:spcBef>
                <a:spcPts val="0"/>
              </a:spcBef>
              <a:spcAft>
                <a:spcPts val="0"/>
              </a:spcAft>
              <a:buSzPts val="1400"/>
              <a:buChar char="●"/>
            </a:pPr>
            <a:r>
              <a:rPr lang="en"/>
              <a:t>High-value customers demonstrate broad and diverse musical tastes</a:t>
            </a:r>
            <a:endParaRPr/>
          </a:p>
          <a:p>
            <a:pPr indent="-317500" lvl="0" marL="457200" rtl="0" algn="l">
              <a:spcBef>
                <a:spcPts val="0"/>
              </a:spcBef>
              <a:spcAft>
                <a:spcPts val="0"/>
              </a:spcAft>
              <a:buSzPts val="1400"/>
              <a:buChar char="●"/>
            </a:pPr>
            <a:r>
              <a:rPr lang="en"/>
              <a:t>Spending differences are driven by entertainer pricing, not booking frequency</a:t>
            </a:r>
            <a:endParaRPr/>
          </a:p>
          <a:p>
            <a:pPr indent="-317500" lvl="0" marL="457200" rtl="0" algn="l">
              <a:spcBef>
                <a:spcPts val="0"/>
              </a:spcBef>
              <a:spcAft>
                <a:spcPts val="0"/>
              </a:spcAft>
              <a:buSzPts val="1400"/>
              <a:buChar char="●"/>
            </a:pPr>
            <a:r>
              <a:rPr lang="en"/>
              <a:t>Several styles show strong revenue per entertainer (60’s Music, Country), while others underperform despite similar talent 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Recommendations:</a:t>
            </a:r>
            <a:endParaRPr/>
          </a:p>
          <a:p>
            <a:pPr indent="-317500" lvl="0" marL="457200" rtl="0" algn="l">
              <a:spcBef>
                <a:spcPts val="0"/>
              </a:spcBef>
              <a:spcAft>
                <a:spcPts val="0"/>
              </a:spcAft>
              <a:buSzPts val="1400"/>
              <a:buChar char="●"/>
            </a:pPr>
            <a:r>
              <a:rPr lang="en"/>
              <a:t>Expand talent in high-ROI styles such as 60’s Music and Country</a:t>
            </a:r>
            <a:endParaRPr/>
          </a:p>
          <a:p>
            <a:pPr indent="-317500" lvl="0" marL="457200" rtl="0" algn="l">
              <a:spcBef>
                <a:spcPts val="0"/>
              </a:spcBef>
              <a:spcAft>
                <a:spcPts val="0"/>
              </a:spcAft>
              <a:buSzPts val="1400"/>
              <a:buChar char="●"/>
            </a:pPr>
            <a:r>
              <a:rPr lang="en"/>
              <a:t>Reassess low-demand styles (Classical, Folk, Chamber Music) through pricing review, marketing repositioning, or selective downsizing</a:t>
            </a:r>
            <a:endParaRPr/>
          </a:p>
          <a:p>
            <a:pPr indent="-317500" lvl="0" marL="457200" rtl="0" algn="l">
              <a:spcBef>
                <a:spcPts val="0"/>
              </a:spcBef>
              <a:spcAft>
                <a:spcPts val="0"/>
              </a:spcAft>
              <a:buSzPts val="1400"/>
              <a:buChar char="●"/>
            </a:pPr>
            <a:r>
              <a:rPr lang="en"/>
              <a:t>Implement a premium pricing strategy for high-value clients, who tend to choose high-priced entertainers rather than more events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88" name="Google Shape;588;p47"/>
          <p:cNvSpPr txBox="1"/>
          <p:nvPr>
            <p:ph type="title"/>
          </p:nvPr>
        </p:nvSpPr>
        <p:spPr>
          <a:xfrm>
            <a:off x="422850" y="321538"/>
            <a:ext cx="8298300" cy="1131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Revenue &amp; Customer Preferences by Musical Style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8"/>
          <p:cNvSpPr txBox="1"/>
          <p:nvPr>
            <p:ph type="title"/>
          </p:nvPr>
        </p:nvSpPr>
        <p:spPr>
          <a:xfrm>
            <a:off x="589350" y="228600"/>
            <a:ext cx="7965300" cy="75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t>Flow Chart Diagram</a:t>
            </a:r>
            <a:endParaRPr b="1" sz="4000"/>
          </a:p>
        </p:txBody>
      </p:sp>
      <p:pic>
        <p:nvPicPr>
          <p:cNvPr id="594" name="Google Shape;594;p48"/>
          <p:cNvPicPr preferRelativeResize="0"/>
          <p:nvPr/>
        </p:nvPicPr>
        <p:blipFill>
          <a:blip r:embed="rId3">
            <a:alphaModFix/>
          </a:blip>
          <a:stretch>
            <a:fillRect/>
          </a:stretch>
        </p:blipFill>
        <p:spPr>
          <a:xfrm>
            <a:off x="1905387" y="1100425"/>
            <a:ext cx="5427124" cy="3727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9"/>
          <p:cNvSpPr txBox="1"/>
          <p:nvPr>
            <p:ph idx="1" type="subTitle"/>
          </p:nvPr>
        </p:nvSpPr>
        <p:spPr>
          <a:xfrm>
            <a:off x="3431400" y="874525"/>
            <a:ext cx="5712600" cy="4249500"/>
          </a:xfrm>
          <a:prstGeom prst="rect">
            <a:avLst/>
          </a:prstGeom>
          <a:ln>
            <a:noFill/>
          </a:ln>
        </p:spPr>
        <p:txBody>
          <a:bodyPr anchorCtr="0" anchor="t" bIns="91425" lIns="0" spcFirstLastPara="1" rIns="91425" wrap="square" tIns="91425">
            <a:noAutofit/>
          </a:bodyPr>
          <a:lstStyle/>
          <a:p>
            <a:pPr indent="0" lvl="0" marL="0" rtl="0" algn="l">
              <a:lnSpc>
                <a:spcPct val="100000"/>
              </a:lnSpc>
              <a:spcBef>
                <a:spcPts val="1400"/>
              </a:spcBef>
              <a:spcAft>
                <a:spcPts val="0"/>
              </a:spcAft>
              <a:buNone/>
            </a:pPr>
            <a:r>
              <a:rPr b="1" lang="en" sz="1300">
                <a:latin typeface="Arial"/>
                <a:ea typeface="Arial"/>
                <a:cs typeface="Arial"/>
                <a:sym typeface="Arial"/>
              </a:rPr>
              <a:t>Data Quality: </a:t>
            </a:r>
            <a:r>
              <a:rPr lang="en" sz="1300">
                <a:latin typeface="Arial"/>
                <a:ea typeface="Arial"/>
                <a:cs typeface="Arial"/>
                <a:sym typeface="Arial"/>
              </a:rPr>
              <a:t>Some records (e.g., test agents, extreme revenues) may require cleaning.</a:t>
            </a:r>
            <a:endParaRPr sz="1300">
              <a:latin typeface="Arial"/>
              <a:ea typeface="Arial"/>
              <a:cs typeface="Arial"/>
              <a:sym typeface="Arial"/>
            </a:endParaRPr>
          </a:p>
          <a:p>
            <a:pPr indent="0" lvl="0" marL="0" rtl="0" algn="l">
              <a:lnSpc>
                <a:spcPct val="100000"/>
              </a:lnSpc>
              <a:spcBef>
                <a:spcPts val="1400"/>
              </a:spcBef>
              <a:spcAft>
                <a:spcPts val="0"/>
              </a:spcAft>
              <a:buNone/>
            </a:pPr>
            <a:r>
              <a:rPr b="1" lang="en" sz="1300">
                <a:latin typeface="Arial"/>
                <a:ea typeface="Arial"/>
                <a:cs typeface="Arial"/>
                <a:sym typeface="Arial"/>
              </a:rPr>
              <a:t>Contract Pricing:</a:t>
            </a:r>
            <a:r>
              <a:rPr lang="en" sz="1300">
                <a:latin typeface="Arial"/>
                <a:ea typeface="Arial"/>
                <a:cs typeface="Arial"/>
                <a:sym typeface="Arial"/>
              </a:rPr>
              <a:t>Right-skewed distribution; most bookings fall between </a:t>
            </a:r>
            <a:r>
              <a:rPr b="1" lang="en" sz="1300">
                <a:latin typeface="Arial"/>
                <a:ea typeface="Arial"/>
                <a:cs typeface="Arial"/>
                <a:sym typeface="Arial"/>
              </a:rPr>
              <a:t>$500–$1,500</a:t>
            </a:r>
            <a:r>
              <a:rPr lang="en" sz="1300">
                <a:latin typeface="Arial"/>
                <a:ea typeface="Arial"/>
                <a:cs typeface="Arial"/>
                <a:sym typeface="Arial"/>
              </a:rPr>
              <a:t>.</a:t>
            </a:r>
            <a:endParaRPr sz="1300">
              <a:latin typeface="Arial"/>
              <a:ea typeface="Arial"/>
              <a:cs typeface="Arial"/>
              <a:sym typeface="Arial"/>
            </a:endParaRPr>
          </a:p>
          <a:p>
            <a:pPr indent="0" lvl="0" marL="0" rtl="0" algn="l">
              <a:lnSpc>
                <a:spcPct val="100000"/>
              </a:lnSpc>
              <a:spcBef>
                <a:spcPts val="1400"/>
              </a:spcBef>
              <a:spcAft>
                <a:spcPts val="0"/>
              </a:spcAft>
              <a:buNone/>
            </a:pPr>
            <a:r>
              <a:rPr b="1" lang="en" sz="1300">
                <a:latin typeface="Arial"/>
                <a:ea typeface="Arial"/>
                <a:cs typeface="Arial"/>
                <a:sym typeface="Arial"/>
              </a:rPr>
              <a:t>Genre Demand vs. Supply: </a:t>
            </a:r>
            <a:r>
              <a:rPr lang="en" sz="1300">
                <a:latin typeface="Arial"/>
                <a:ea typeface="Arial"/>
                <a:cs typeface="Arial"/>
                <a:sym typeface="Arial"/>
              </a:rPr>
              <a:t>High demand for </a:t>
            </a:r>
            <a:r>
              <a:rPr b="1" lang="en" sz="1300">
                <a:latin typeface="Arial"/>
                <a:ea typeface="Arial"/>
                <a:cs typeface="Arial"/>
                <a:sym typeface="Arial"/>
              </a:rPr>
              <a:t>Contemporary</a:t>
            </a:r>
            <a:r>
              <a:rPr lang="en" sz="1300">
                <a:latin typeface="Arial"/>
                <a:ea typeface="Arial"/>
                <a:cs typeface="Arial"/>
                <a:sym typeface="Arial"/>
              </a:rPr>
              <a:t> and </a:t>
            </a:r>
            <a:r>
              <a:rPr b="1" lang="en" sz="1300">
                <a:latin typeface="Arial"/>
                <a:ea typeface="Arial"/>
                <a:cs typeface="Arial"/>
                <a:sym typeface="Arial"/>
              </a:rPr>
              <a:t>Jazz</a:t>
            </a:r>
            <a:r>
              <a:rPr lang="en" sz="1300">
                <a:latin typeface="Arial"/>
                <a:ea typeface="Arial"/>
                <a:cs typeface="Arial"/>
                <a:sym typeface="Arial"/>
              </a:rPr>
              <a:t>, but limited entertainer coverage.</a:t>
            </a:r>
            <a:endParaRPr sz="1300">
              <a:latin typeface="Arial"/>
              <a:ea typeface="Arial"/>
              <a:cs typeface="Arial"/>
              <a:sym typeface="Arial"/>
            </a:endParaRPr>
          </a:p>
          <a:p>
            <a:pPr indent="0" lvl="0" marL="0" rtl="0" algn="l">
              <a:lnSpc>
                <a:spcPct val="100000"/>
              </a:lnSpc>
              <a:spcBef>
                <a:spcPts val="1400"/>
              </a:spcBef>
              <a:spcAft>
                <a:spcPts val="0"/>
              </a:spcAft>
              <a:buNone/>
            </a:pPr>
            <a:r>
              <a:rPr b="1" lang="en" sz="1300">
                <a:latin typeface="Arial"/>
                <a:ea typeface="Arial"/>
                <a:cs typeface="Arial"/>
                <a:sym typeface="Arial"/>
              </a:rPr>
              <a:t>Top Performer: Country Feeling</a:t>
            </a:r>
            <a:r>
              <a:rPr lang="en" sz="1300">
                <a:latin typeface="Arial"/>
                <a:ea typeface="Arial"/>
                <a:cs typeface="Arial"/>
                <a:sym typeface="Arial"/>
              </a:rPr>
              <a:t> accounts for </a:t>
            </a:r>
            <a:r>
              <a:rPr b="1" lang="en" sz="1300">
                <a:latin typeface="Arial"/>
                <a:ea typeface="Arial"/>
                <a:cs typeface="Arial"/>
                <a:sym typeface="Arial"/>
              </a:rPr>
              <a:t>11%</a:t>
            </a:r>
            <a:r>
              <a:rPr lang="en" sz="1300">
                <a:latin typeface="Arial"/>
                <a:ea typeface="Arial"/>
                <a:cs typeface="Arial"/>
                <a:sym typeface="Arial"/>
              </a:rPr>
              <a:t> of all engagements.</a:t>
            </a:r>
            <a:endParaRPr sz="1300">
              <a:latin typeface="Arial"/>
              <a:ea typeface="Arial"/>
              <a:cs typeface="Arial"/>
              <a:sym typeface="Arial"/>
            </a:endParaRPr>
          </a:p>
          <a:p>
            <a:pPr indent="0" lvl="0" marL="0" rtl="0" algn="l">
              <a:lnSpc>
                <a:spcPct val="100000"/>
              </a:lnSpc>
              <a:spcBef>
                <a:spcPts val="1400"/>
              </a:spcBef>
              <a:spcAft>
                <a:spcPts val="0"/>
              </a:spcAft>
              <a:buNone/>
            </a:pPr>
            <a:r>
              <a:rPr b="1" lang="en" sz="1300">
                <a:latin typeface="Arial"/>
                <a:ea typeface="Arial"/>
                <a:cs typeface="Arial"/>
                <a:sym typeface="Arial"/>
              </a:rPr>
              <a:t>Agent Performance: William Thompson</a:t>
            </a:r>
            <a:r>
              <a:rPr lang="en" sz="1300">
                <a:latin typeface="Arial"/>
                <a:ea typeface="Arial"/>
                <a:cs typeface="Arial"/>
                <a:sym typeface="Arial"/>
              </a:rPr>
              <a:t> leads with </a:t>
            </a:r>
            <a:r>
              <a:rPr b="1" lang="en" sz="1300">
                <a:latin typeface="Arial"/>
                <a:ea typeface="Arial"/>
                <a:cs typeface="Arial"/>
                <a:sym typeface="Arial"/>
              </a:rPr>
              <a:t>$18,485</a:t>
            </a:r>
            <a:r>
              <a:rPr lang="en" sz="1300">
                <a:latin typeface="Arial"/>
                <a:ea typeface="Arial"/>
                <a:cs typeface="Arial"/>
                <a:sym typeface="Arial"/>
              </a:rPr>
              <a:t> in revenue; performance varies across agents.</a:t>
            </a:r>
            <a:endParaRPr sz="1300">
              <a:latin typeface="Arial"/>
              <a:ea typeface="Arial"/>
              <a:cs typeface="Arial"/>
              <a:sym typeface="Arial"/>
            </a:endParaRPr>
          </a:p>
          <a:p>
            <a:pPr indent="0" lvl="0" marL="0" rtl="0" algn="l">
              <a:lnSpc>
                <a:spcPct val="100000"/>
              </a:lnSpc>
              <a:spcBef>
                <a:spcPts val="1400"/>
              </a:spcBef>
              <a:spcAft>
                <a:spcPts val="0"/>
              </a:spcAft>
              <a:buNone/>
            </a:pPr>
            <a:r>
              <a:rPr b="1" lang="en" sz="1300">
                <a:latin typeface="Arial"/>
                <a:ea typeface="Arial"/>
                <a:cs typeface="Arial"/>
                <a:sym typeface="Arial"/>
              </a:rPr>
              <a:t>Market Gap: </a:t>
            </a:r>
            <a:r>
              <a:rPr lang="en" sz="1300">
                <a:latin typeface="Arial"/>
                <a:ea typeface="Arial"/>
                <a:cs typeface="Arial"/>
                <a:sym typeface="Arial"/>
              </a:rPr>
              <a:t>Contemporary is highly requested but only two entertainers offer it.</a:t>
            </a:r>
            <a:endParaRPr sz="1300">
              <a:latin typeface="Arial"/>
              <a:ea typeface="Arial"/>
              <a:cs typeface="Arial"/>
              <a:sym typeface="Arial"/>
            </a:endParaRPr>
          </a:p>
          <a:p>
            <a:pPr indent="0" lvl="0" marL="0" rtl="0" algn="l">
              <a:lnSpc>
                <a:spcPct val="100000"/>
              </a:lnSpc>
              <a:spcBef>
                <a:spcPts val="1400"/>
              </a:spcBef>
              <a:spcAft>
                <a:spcPts val="0"/>
              </a:spcAft>
              <a:buNone/>
            </a:pPr>
            <a:r>
              <a:rPr b="1" lang="en" sz="1300">
                <a:latin typeface="Arial"/>
                <a:ea typeface="Arial"/>
                <a:cs typeface="Arial"/>
                <a:sym typeface="Arial"/>
              </a:rPr>
              <a:t>Price Distribution: </a:t>
            </a:r>
            <a:r>
              <a:rPr lang="en" sz="1300">
                <a:latin typeface="Arial"/>
                <a:ea typeface="Arial"/>
                <a:cs typeface="Arial"/>
                <a:sym typeface="Arial"/>
              </a:rPr>
              <a:t>Median price (</a:t>
            </a:r>
            <a:r>
              <a:rPr b="1" lang="en" sz="1300">
                <a:latin typeface="Arial"/>
                <a:ea typeface="Arial"/>
                <a:cs typeface="Arial"/>
                <a:sym typeface="Arial"/>
              </a:rPr>
              <a:t>$1,130</a:t>
            </a:r>
            <a:r>
              <a:rPr lang="en" sz="1300">
                <a:latin typeface="Arial"/>
                <a:ea typeface="Arial"/>
                <a:cs typeface="Arial"/>
                <a:sym typeface="Arial"/>
              </a:rPr>
              <a:t>) is more representative; most bookings fall under </a:t>
            </a:r>
            <a:r>
              <a:rPr b="1" lang="en" sz="1300">
                <a:latin typeface="Arial"/>
                <a:ea typeface="Arial"/>
                <a:cs typeface="Arial"/>
                <a:sym typeface="Arial"/>
              </a:rPr>
              <a:t>$1,000</a:t>
            </a:r>
            <a:r>
              <a:rPr lang="en" sz="1300">
                <a:latin typeface="Arial"/>
                <a:ea typeface="Arial"/>
                <a:cs typeface="Arial"/>
                <a:sym typeface="Arial"/>
              </a:rPr>
              <a:t>.</a:t>
            </a:r>
            <a:endParaRPr sz="1300">
              <a:latin typeface="Arial"/>
              <a:ea typeface="Arial"/>
              <a:cs typeface="Arial"/>
              <a:sym typeface="Arial"/>
            </a:endParaRPr>
          </a:p>
          <a:p>
            <a:pPr indent="0" lvl="0" marL="0" rtl="0" algn="l">
              <a:lnSpc>
                <a:spcPct val="100000"/>
              </a:lnSpc>
              <a:spcBef>
                <a:spcPts val="400"/>
              </a:spcBef>
              <a:spcAft>
                <a:spcPts val="0"/>
              </a:spcAft>
              <a:buNone/>
            </a:pPr>
            <a:r>
              <a:t/>
            </a:r>
            <a:endParaRPr sz="1300">
              <a:latin typeface="Arial"/>
              <a:ea typeface="Arial"/>
              <a:cs typeface="Arial"/>
              <a:sym typeface="Arial"/>
            </a:endParaRPr>
          </a:p>
        </p:txBody>
      </p:sp>
      <p:sp>
        <p:nvSpPr>
          <p:cNvPr id="600" name="Google Shape;600;p49"/>
          <p:cNvSpPr txBox="1"/>
          <p:nvPr>
            <p:ph idx="4294967295" type="title"/>
          </p:nvPr>
        </p:nvSpPr>
        <p:spPr>
          <a:xfrm>
            <a:off x="3537050" y="286825"/>
            <a:ext cx="29154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t>AI Analysis</a:t>
            </a:r>
            <a:endParaRPr b="1" sz="4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0"/>
          <p:cNvSpPr txBox="1"/>
          <p:nvPr>
            <p:ph type="title"/>
          </p:nvPr>
        </p:nvSpPr>
        <p:spPr>
          <a:xfrm>
            <a:off x="1711500" y="228600"/>
            <a:ext cx="5721000" cy="75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t>AI Visualizations </a:t>
            </a:r>
            <a:endParaRPr b="1" sz="4000"/>
          </a:p>
        </p:txBody>
      </p:sp>
      <p:pic>
        <p:nvPicPr>
          <p:cNvPr id="606" name="Google Shape;606;p50"/>
          <p:cNvPicPr preferRelativeResize="0"/>
          <p:nvPr/>
        </p:nvPicPr>
        <p:blipFill>
          <a:blip r:embed="rId3">
            <a:alphaModFix/>
          </a:blip>
          <a:stretch>
            <a:fillRect/>
          </a:stretch>
        </p:blipFill>
        <p:spPr>
          <a:xfrm>
            <a:off x="1711500" y="1116249"/>
            <a:ext cx="5805574" cy="3461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1"/>
          <p:cNvSpPr txBox="1"/>
          <p:nvPr>
            <p:ph type="title"/>
          </p:nvPr>
        </p:nvSpPr>
        <p:spPr>
          <a:xfrm>
            <a:off x="1711500" y="228600"/>
            <a:ext cx="5721000" cy="75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t>AI Visualizations </a:t>
            </a:r>
            <a:endParaRPr b="1" sz="4000"/>
          </a:p>
        </p:txBody>
      </p:sp>
      <p:pic>
        <p:nvPicPr>
          <p:cNvPr id="612" name="Google Shape;612;p51"/>
          <p:cNvPicPr preferRelativeResize="0"/>
          <p:nvPr/>
        </p:nvPicPr>
        <p:blipFill>
          <a:blip r:embed="rId3">
            <a:alphaModFix/>
          </a:blip>
          <a:stretch>
            <a:fillRect/>
          </a:stretch>
        </p:blipFill>
        <p:spPr>
          <a:xfrm>
            <a:off x="1808069" y="984300"/>
            <a:ext cx="5621761" cy="3928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2"/>
          <p:cNvSpPr txBox="1"/>
          <p:nvPr>
            <p:ph type="title"/>
          </p:nvPr>
        </p:nvSpPr>
        <p:spPr>
          <a:xfrm>
            <a:off x="1711500" y="228600"/>
            <a:ext cx="5721000" cy="75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t>AI Visualizations </a:t>
            </a:r>
            <a:endParaRPr b="1" sz="4000"/>
          </a:p>
        </p:txBody>
      </p:sp>
      <p:pic>
        <p:nvPicPr>
          <p:cNvPr id="618" name="Google Shape;618;p52"/>
          <p:cNvPicPr preferRelativeResize="0"/>
          <p:nvPr/>
        </p:nvPicPr>
        <p:blipFill>
          <a:blip r:embed="rId3">
            <a:alphaModFix/>
          </a:blip>
          <a:stretch>
            <a:fillRect/>
          </a:stretch>
        </p:blipFill>
        <p:spPr>
          <a:xfrm>
            <a:off x="1553250" y="1138675"/>
            <a:ext cx="5943600" cy="3457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3"/>
          <p:cNvSpPr txBox="1"/>
          <p:nvPr>
            <p:ph type="title"/>
          </p:nvPr>
        </p:nvSpPr>
        <p:spPr>
          <a:xfrm>
            <a:off x="1711500" y="228600"/>
            <a:ext cx="5721000" cy="75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t>AI Visualizations </a:t>
            </a:r>
            <a:endParaRPr b="1" sz="4000"/>
          </a:p>
        </p:txBody>
      </p:sp>
      <p:pic>
        <p:nvPicPr>
          <p:cNvPr id="624" name="Google Shape;624;p53"/>
          <p:cNvPicPr preferRelativeResize="0"/>
          <p:nvPr/>
        </p:nvPicPr>
        <p:blipFill>
          <a:blip r:embed="rId3">
            <a:alphaModFix/>
          </a:blip>
          <a:stretch>
            <a:fillRect/>
          </a:stretch>
        </p:blipFill>
        <p:spPr>
          <a:xfrm>
            <a:off x="1553250" y="1078675"/>
            <a:ext cx="5943600" cy="3543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4"/>
          <p:cNvSpPr txBox="1"/>
          <p:nvPr>
            <p:ph type="title"/>
          </p:nvPr>
        </p:nvSpPr>
        <p:spPr>
          <a:xfrm>
            <a:off x="2014619" y="228600"/>
            <a:ext cx="68682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Comparative</a:t>
            </a:r>
            <a:r>
              <a:rPr lang="en"/>
              <a:t> Analysis - Team</a:t>
            </a:r>
            <a:endParaRPr/>
          </a:p>
        </p:txBody>
      </p:sp>
      <p:sp>
        <p:nvSpPr>
          <p:cNvPr id="630" name="Google Shape;630;p54"/>
          <p:cNvSpPr txBox="1"/>
          <p:nvPr>
            <p:ph idx="1" type="subTitle"/>
          </p:nvPr>
        </p:nvSpPr>
        <p:spPr>
          <a:xfrm>
            <a:off x="2329800" y="973800"/>
            <a:ext cx="6356400" cy="39384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800">
                <a:latin typeface="Arial"/>
                <a:ea typeface="Arial"/>
                <a:cs typeface="Arial"/>
                <a:sym typeface="Arial"/>
              </a:rPr>
              <a:t>Strengths (3):</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Font typeface="Arial"/>
              <a:buChar char="●"/>
            </a:pPr>
            <a:r>
              <a:rPr lang="en" sz="1800">
                <a:latin typeface="Arial"/>
                <a:ea typeface="Arial"/>
                <a:cs typeface="Arial"/>
                <a:sym typeface="Arial"/>
              </a:rPr>
              <a:t>Strong, detailed SQL analysis with accurate data cleaning</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 sz="1800">
                <a:latin typeface="Arial"/>
                <a:ea typeface="Arial"/>
                <a:cs typeface="Arial"/>
                <a:sym typeface="Arial"/>
              </a:rPr>
              <a:t>Deep business insights on entertainers, customers, and agents</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 sz="1800">
                <a:latin typeface="Arial"/>
                <a:ea typeface="Arial"/>
                <a:cs typeface="Arial"/>
                <a:sym typeface="Arial"/>
              </a:rPr>
              <a:t>Multi-metric agent evaluation (net revenue, ROI, revenue per contract)</a:t>
            </a:r>
            <a:endParaRPr sz="1800">
              <a:latin typeface="Arial"/>
              <a:ea typeface="Arial"/>
              <a:cs typeface="Arial"/>
              <a:sym typeface="Arial"/>
            </a:endParaRPr>
          </a:p>
          <a:p>
            <a:pPr indent="0" lvl="0" marL="0" rtl="0" algn="l">
              <a:lnSpc>
                <a:spcPct val="115000"/>
              </a:lnSpc>
              <a:spcBef>
                <a:spcPts val="1400"/>
              </a:spcBef>
              <a:spcAft>
                <a:spcPts val="0"/>
              </a:spcAft>
              <a:buNone/>
            </a:pPr>
            <a:r>
              <a:rPr b="1" lang="en" sz="1800">
                <a:latin typeface="Arial"/>
                <a:ea typeface="Arial"/>
                <a:cs typeface="Arial"/>
                <a:sym typeface="Arial"/>
              </a:rPr>
              <a:t>Weaknesses (2):</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Font typeface="Arial"/>
              <a:buChar char="●"/>
            </a:pPr>
            <a:r>
              <a:rPr lang="en" sz="1800">
                <a:latin typeface="Arial"/>
                <a:ea typeface="Arial"/>
                <a:cs typeface="Arial"/>
                <a:sym typeface="Arial"/>
              </a:rPr>
              <a:t>Visualizations were limited compared to Python</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 sz="1800">
                <a:latin typeface="Arial"/>
                <a:ea typeface="Arial"/>
                <a:cs typeface="Arial"/>
                <a:sym typeface="Arial"/>
              </a:rPr>
              <a:t>Analysis required more time and manual effort</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b="1">
              <a:latin typeface="Arial"/>
              <a:ea typeface="Arial"/>
              <a:cs typeface="Arial"/>
              <a:sym typeface="Arial"/>
            </a:endParaRPr>
          </a:p>
          <a:p>
            <a:pPr indent="0" lvl="0" marL="0" rtl="0" algn="l">
              <a:spcBef>
                <a:spcPts val="0"/>
              </a:spcBef>
              <a:spcAft>
                <a:spcPts val="0"/>
              </a:spcAft>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5"/>
          <p:cNvSpPr txBox="1"/>
          <p:nvPr>
            <p:ph idx="4294967295" type="title"/>
          </p:nvPr>
        </p:nvSpPr>
        <p:spPr>
          <a:xfrm>
            <a:off x="26725" y="228600"/>
            <a:ext cx="5962500" cy="82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t>Comparative Analysis - AI</a:t>
            </a:r>
            <a:endParaRPr sz="4000"/>
          </a:p>
        </p:txBody>
      </p:sp>
      <p:sp>
        <p:nvSpPr>
          <p:cNvPr id="636" name="Google Shape;636;p55"/>
          <p:cNvSpPr txBox="1"/>
          <p:nvPr>
            <p:ph idx="3" type="subTitle"/>
          </p:nvPr>
        </p:nvSpPr>
        <p:spPr>
          <a:xfrm>
            <a:off x="465375" y="1204975"/>
            <a:ext cx="6458100" cy="3707400"/>
          </a:xfrm>
          <a:prstGeom prst="rect">
            <a:avLst/>
          </a:prstGeom>
        </p:spPr>
        <p:txBody>
          <a:bodyPr anchorCtr="0" anchor="t" bIns="91425" lIns="0" spcFirstLastPara="1" rIns="91425" wrap="square" tIns="0">
            <a:noAutofit/>
          </a:bodyPr>
          <a:lstStyle/>
          <a:p>
            <a:pPr indent="0" lvl="0" marL="0" rtl="0" algn="l">
              <a:spcBef>
                <a:spcPts val="1400"/>
              </a:spcBef>
              <a:spcAft>
                <a:spcPts val="0"/>
              </a:spcAft>
              <a:buNone/>
            </a:pPr>
            <a:r>
              <a:rPr b="1" lang="en" sz="1800">
                <a:latin typeface="Arial"/>
                <a:ea typeface="Arial"/>
                <a:cs typeface="Arial"/>
                <a:sym typeface="Arial"/>
              </a:rPr>
              <a:t>Strengths (3):</a:t>
            </a:r>
            <a:endParaRPr b="1" sz="1800">
              <a:latin typeface="Arial"/>
              <a:ea typeface="Arial"/>
              <a:cs typeface="Arial"/>
              <a:sym typeface="Arial"/>
            </a:endParaRPr>
          </a:p>
          <a:p>
            <a:pPr indent="-342900" lvl="0" marL="457200" rtl="0" algn="l">
              <a:spcBef>
                <a:spcPts val="1200"/>
              </a:spcBef>
              <a:spcAft>
                <a:spcPts val="0"/>
              </a:spcAft>
              <a:buClr>
                <a:schemeClr val="lt1"/>
              </a:buClr>
              <a:buSzPts val="1800"/>
              <a:buFont typeface="Arial"/>
              <a:buChar char="●"/>
            </a:pPr>
            <a:r>
              <a:rPr lang="en" sz="1800">
                <a:latin typeface="Arial"/>
                <a:ea typeface="Arial"/>
                <a:cs typeface="Arial"/>
                <a:sym typeface="Arial"/>
              </a:rPr>
              <a:t>Fast and automated EDA with strong Python visualizations</a:t>
            </a:r>
            <a:endParaRPr sz="1800">
              <a:latin typeface="Arial"/>
              <a:ea typeface="Arial"/>
              <a:cs typeface="Arial"/>
              <a:sym typeface="Arial"/>
            </a:endParaRPr>
          </a:p>
          <a:p>
            <a:pPr indent="-342900" lvl="0" marL="457200" rtl="0" algn="l">
              <a:spcBef>
                <a:spcPts val="0"/>
              </a:spcBef>
              <a:spcAft>
                <a:spcPts val="0"/>
              </a:spcAft>
              <a:buClr>
                <a:schemeClr val="lt1"/>
              </a:buClr>
              <a:buSzPts val="1800"/>
              <a:buFont typeface="Arial"/>
              <a:buChar char="●"/>
            </a:pPr>
            <a:r>
              <a:rPr lang="en" sz="1800">
                <a:latin typeface="Arial"/>
                <a:ea typeface="Arial"/>
                <a:cs typeface="Arial"/>
                <a:sym typeface="Arial"/>
              </a:rPr>
              <a:t>Quickly surfaced major trends and high-level insights</a:t>
            </a:r>
            <a:endParaRPr sz="1800">
              <a:latin typeface="Arial"/>
              <a:ea typeface="Arial"/>
              <a:cs typeface="Arial"/>
              <a:sym typeface="Arial"/>
            </a:endParaRPr>
          </a:p>
          <a:p>
            <a:pPr indent="-342900" lvl="0" marL="457200" rtl="0" algn="l">
              <a:spcBef>
                <a:spcPts val="0"/>
              </a:spcBef>
              <a:spcAft>
                <a:spcPts val="0"/>
              </a:spcAft>
              <a:buClr>
                <a:schemeClr val="lt1"/>
              </a:buClr>
              <a:buSzPts val="1800"/>
              <a:buFont typeface="Arial"/>
              <a:buChar char="●"/>
            </a:pPr>
            <a:r>
              <a:rPr lang="en" sz="1800">
                <a:latin typeface="Arial"/>
                <a:ea typeface="Arial"/>
                <a:cs typeface="Arial"/>
                <a:sym typeface="Arial"/>
              </a:rPr>
              <a:t>Generated reusable SQL and Python code</a:t>
            </a:r>
            <a:endParaRPr sz="1800">
              <a:latin typeface="Arial"/>
              <a:ea typeface="Arial"/>
              <a:cs typeface="Arial"/>
              <a:sym typeface="Arial"/>
            </a:endParaRPr>
          </a:p>
          <a:p>
            <a:pPr indent="0" lvl="0" marL="0" rtl="0" algn="l">
              <a:spcBef>
                <a:spcPts val="1400"/>
              </a:spcBef>
              <a:spcAft>
                <a:spcPts val="0"/>
              </a:spcAft>
              <a:buNone/>
            </a:pPr>
            <a:r>
              <a:rPr b="1" lang="en" sz="1800">
                <a:latin typeface="Arial"/>
                <a:ea typeface="Arial"/>
                <a:cs typeface="Arial"/>
                <a:sym typeface="Arial"/>
              </a:rPr>
              <a:t>Weaknesses (2):</a:t>
            </a:r>
            <a:endParaRPr b="1" sz="1800">
              <a:latin typeface="Arial"/>
              <a:ea typeface="Arial"/>
              <a:cs typeface="Arial"/>
              <a:sym typeface="Arial"/>
            </a:endParaRPr>
          </a:p>
          <a:p>
            <a:pPr indent="-342900" lvl="0" marL="457200" rtl="0" algn="l">
              <a:spcBef>
                <a:spcPts val="1200"/>
              </a:spcBef>
              <a:spcAft>
                <a:spcPts val="0"/>
              </a:spcAft>
              <a:buClr>
                <a:schemeClr val="lt1"/>
              </a:buClr>
              <a:buSzPts val="1800"/>
              <a:buFont typeface="Arial"/>
              <a:buChar char="●"/>
            </a:pPr>
            <a:r>
              <a:rPr lang="en" sz="1800">
                <a:latin typeface="Arial"/>
                <a:ea typeface="Arial"/>
                <a:cs typeface="Arial"/>
                <a:sym typeface="Arial"/>
              </a:rPr>
              <a:t>Analysis was more surface-level and missed deeper context</a:t>
            </a:r>
            <a:endParaRPr sz="1800">
              <a:latin typeface="Arial"/>
              <a:ea typeface="Arial"/>
              <a:cs typeface="Arial"/>
              <a:sym typeface="Arial"/>
            </a:endParaRPr>
          </a:p>
          <a:p>
            <a:pPr indent="-342900" lvl="0" marL="457200" rtl="0" algn="l">
              <a:spcBef>
                <a:spcPts val="0"/>
              </a:spcBef>
              <a:spcAft>
                <a:spcPts val="0"/>
              </a:spcAft>
              <a:buClr>
                <a:schemeClr val="lt1"/>
              </a:buClr>
              <a:buSzPts val="1800"/>
              <a:buFont typeface="Arial"/>
              <a:buChar char="●"/>
            </a:pPr>
            <a:r>
              <a:rPr lang="en" sz="1800">
                <a:latin typeface="Arial"/>
                <a:ea typeface="Arial"/>
                <a:cs typeface="Arial"/>
                <a:sym typeface="Arial"/>
              </a:rPr>
              <a:t>Didn’t detect data issues or anomalies that the team identified</a:t>
            </a:r>
            <a:endParaRPr sz="1800">
              <a:latin typeface="Arial"/>
              <a:ea typeface="Arial"/>
              <a:cs typeface="Arial"/>
              <a:sym typeface="Arial"/>
            </a:endParaRPr>
          </a:p>
          <a:p>
            <a:pPr indent="0" lvl="0" marL="0" rtl="0" algn="l">
              <a:spcBef>
                <a:spcPts val="1200"/>
              </a:spcBef>
              <a:spcAft>
                <a:spcPts val="0"/>
              </a:spcAft>
              <a:buNone/>
            </a:pPr>
            <a:r>
              <a:t/>
            </a:r>
            <a:endParaRPr b="1" sz="13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56"/>
          <p:cNvSpPr/>
          <p:nvPr/>
        </p:nvSpPr>
        <p:spPr>
          <a:xfrm>
            <a:off x="1081026" y="9821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42" name="Google Shape;642;p56"/>
          <p:cNvSpPr/>
          <p:nvPr/>
        </p:nvSpPr>
        <p:spPr>
          <a:xfrm>
            <a:off x="2868301" y="9821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43" name="Google Shape;643;p56"/>
          <p:cNvSpPr/>
          <p:nvPr/>
        </p:nvSpPr>
        <p:spPr>
          <a:xfrm>
            <a:off x="4626101" y="9821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44" name="Google Shape;644;p56"/>
          <p:cNvSpPr/>
          <p:nvPr/>
        </p:nvSpPr>
        <p:spPr>
          <a:xfrm>
            <a:off x="6468176" y="9821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45" name="Google Shape;645;p56"/>
          <p:cNvSpPr/>
          <p:nvPr/>
        </p:nvSpPr>
        <p:spPr>
          <a:xfrm>
            <a:off x="1081026" y="9821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46" name="Google Shape;646;p56"/>
          <p:cNvSpPr/>
          <p:nvPr/>
        </p:nvSpPr>
        <p:spPr>
          <a:xfrm>
            <a:off x="2868301" y="9821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47" name="Google Shape;647;p56"/>
          <p:cNvSpPr/>
          <p:nvPr/>
        </p:nvSpPr>
        <p:spPr>
          <a:xfrm>
            <a:off x="4626101" y="9821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48" name="Google Shape;648;p56"/>
          <p:cNvSpPr/>
          <p:nvPr/>
        </p:nvSpPr>
        <p:spPr>
          <a:xfrm>
            <a:off x="6468176" y="9821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49" name="Google Shape;649;p56"/>
          <p:cNvSpPr txBox="1"/>
          <p:nvPr>
            <p:ph type="title"/>
          </p:nvPr>
        </p:nvSpPr>
        <p:spPr>
          <a:xfrm>
            <a:off x="609625" y="380448"/>
            <a:ext cx="75426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4000"/>
              <a:t>Individual Contributions</a:t>
            </a:r>
            <a:endParaRPr sz="4000"/>
          </a:p>
        </p:txBody>
      </p:sp>
      <p:sp>
        <p:nvSpPr>
          <p:cNvPr id="650" name="Google Shape;650;p56"/>
          <p:cNvSpPr txBox="1"/>
          <p:nvPr>
            <p:ph idx="2" type="subTitle"/>
          </p:nvPr>
        </p:nvSpPr>
        <p:spPr>
          <a:xfrm>
            <a:off x="1108301" y="995396"/>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Alizeh Sultan</a:t>
            </a:r>
            <a:endParaRPr/>
          </a:p>
        </p:txBody>
      </p:sp>
      <p:sp>
        <p:nvSpPr>
          <p:cNvPr id="651" name="Google Shape;651;p56"/>
          <p:cNvSpPr txBox="1"/>
          <p:nvPr>
            <p:ph idx="3" type="subTitle"/>
          </p:nvPr>
        </p:nvSpPr>
        <p:spPr>
          <a:xfrm>
            <a:off x="2867203" y="988134"/>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Yutong Gao</a:t>
            </a:r>
            <a:endParaRPr/>
          </a:p>
        </p:txBody>
      </p:sp>
      <p:sp>
        <p:nvSpPr>
          <p:cNvPr id="652" name="Google Shape;652;p56"/>
          <p:cNvSpPr txBox="1"/>
          <p:nvPr>
            <p:ph idx="4" type="subTitle"/>
          </p:nvPr>
        </p:nvSpPr>
        <p:spPr>
          <a:xfrm>
            <a:off x="4626103" y="988134"/>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Maria Chen</a:t>
            </a:r>
            <a:endParaRPr/>
          </a:p>
        </p:txBody>
      </p:sp>
      <p:sp>
        <p:nvSpPr>
          <p:cNvPr id="653" name="Google Shape;653;p56"/>
          <p:cNvSpPr txBox="1"/>
          <p:nvPr>
            <p:ph idx="5" type="subTitle"/>
          </p:nvPr>
        </p:nvSpPr>
        <p:spPr>
          <a:xfrm>
            <a:off x="6468178" y="988134"/>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Xiaoyu Ma</a:t>
            </a:r>
            <a:endParaRPr/>
          </a:p>
        </p:txBody>
      </p:sp>
      <p:sp>
        <p:nvSpPr>
          <p:cNvPr id="654" name="Google Shape;654;p56"/>
          <p:cNvSpPr txBox="1"/>
          <p:nvPr>
            <p:ph idx="7" type="body"/>
          </p:nvPr>
        </p:nvSpPr>
        <p:spPr>
          <a:xfrm>
            <a:off x="1065574" y="1341300"/>
            <a:ext cx="1432800" cy="13854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Completed phase 2 of Individual report (missing values, inconsistencies)</a:t>
            </a:r>
            <a:endParaRPr/>
          </a:p>
          <a:p>
            <a:pPr indent="-285750" lvl="0" marL="457200" rtl="0" algn="l">
              <a:spcBef>
                <a:spcPts val="0"/>
              </a:spcBef>
              <a:spcAft>
                <a:spcPts val="0"/>
              </a:spcAft>
              <a:buSzPts val="900"/>
              <a:buChar char="●"/>
            </a:pPr>
            <a:r>
              <a:rPr lang="en"/>
              <a:t>Complete AI report with python code </a:t>
            </a:r>
            <a:endParaRPr/>
          </a:p>
          <a:p>
            <a:pPr indent="-285750" lvl="0" marL="457200" rtl="0" algn="l">
              <a:spcBef>
                <a:spcPts val="0"/>
              </a:spcBef>
              <a:spcAft>
                <a:spcPts val="0"/>
              </a:spcAft>
              <a:buSzPts val="900"/>
              <a:buChar char="●"/>
            </a:pPr>
            <a:r>
              <a:rPr lang="en"/>
              <a:t>AI Analysis for Slides</a:t>
            </a:r>
            <a:endParaRPr/>
          </a:p>
        </p:txBody>
      </p:sp>
      <p:sp>
        <p:nvSpPr>
          <p:cNvPr id="655" name="Google Shape;655;p56"/>
          <p:cNvSpPr txBox="1"/>
          <p:nvPr>
            <p:ph idx="9" type="body"/>
          </p:nvPr>
        </p:nvSpPr>
        <p:spPr>
          <a:xfrm>
            <a:off x="4635915" y="1373125"/>
            <a:ext cx="1394400" cy="13854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Completed phase 3  (Exploratory Analysis &amp; Insight Generation)</a:t>
            </a:r>
            <a:endParaRPr/>
          </a:p>
          <a:p>
            <a:pPr indent="0" lvl="0" marL="457200" rtl="0" algn="l">
              <a:spcBef>
                <a:spcPts val="0"/>
              </a:spcBef>
              <a:spcAft>
                <a:spcPts val="0"/>
              </a:spcAft>
              <a:buNone/>
            </a:pPr>
            <a:r>
              <a:t/>
            </a:r>
            <a:endParaRPr/>
          </a:p>
          <a:p>
            <a:pPr indent="-285750" lvl="0" marL="457200" rtl="0" algn="l">
              <a:spcBef>
                <a:spcPts val="0"/>
              </a:spcBef>
              <a:spcAft>
                <a:spcPts val="0"/>
              </a:spcAft>
              <a:buSzPts val="900"/>
              <a:buChar char="●"/>
            </a:pPr>
            <a:r>
              <a:rPr lang="en"/>
              <a:t>Complete phase 4 (Synthesis &amp; Recommendations)</a:t>
            </a:r>
            <a:endParaRPr/>
          </a:p>
          <a:p>
            <a:pPr indent="0" lvl="0" marL="0" rtl="0" algn="l">
              <a:spcBef>
                <a:spcPts val="0"/>
              </a:spcBef>
              <a:spcAft>
                <a:spcPts val="0"/>
              </a:spcAft>
              <a:buNone/>
            </a:pPr>
            <a:r>
              <a:t/>
            </a:r>
            <a:endParaRPr/>
          </a:p>
        </p:txBody>
      </p:sp>
      <p:sp>
        <p:nvSpPr>
          <p:cNvPr id="656" name="Google Shape;656;p56"/>
          <p:cNvSpPr/>
          <p:nvPr/>
        </p:nvSpPr>
        <p:spPr>
          <a:xfrm>
            <a:off x="1031526" y="30677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57" name="Google Shape;657;p56"/>
          <p:cNvSpPr/>
          <p:nvPr/>
        </p:nvSpPr>
        <p:spPr>
          <a:xfrm>
            <a:off x="4576601" y="30677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58" name="Google Shape;658;p56"/>
          <p:cNvSpPr/>
          <p:nvPr/>
        </p:nvSpPr>
        <p:spPr>
          <a:xfrm>
            <a:off x="6418676" y="3067734"/>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59" name="Google Shape;659;p56"/>
          <p:cNvSpPr/>
          <p:nvPr/>
        </p:nvSpPr>
        <p:spPr>
          <a:xfrm>
            <a:off x="1031526" y="30677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60" name="Google Shape;660;p56"/>
          <p:cNvSpPr/>
          <p:nvPr/>
        </p:nvSpPr>
        <p:spPr>
          <a:xfrm>
            <a:off x="2818801" y="30677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61" name="Google Shape;661;p56"/>
          <p:cNvSpPr/>
          <p:nvPr/>
        </p:nvSpPr>
        <p:spPr>
          <a:xfrm>
            <a:off x="4576601" y="30677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62" name="Google Shape;662;p56"/>
          <p:cNvSpPr/>
          <p:nvPr/>
        </p:nvSpPr>
        <p:spPr>
          <a:xfrm>
            <a:off x="6418676" y="3067734"/>
            <a:ext cx="1500900" cy="276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63" name="Google Shape;663;p56"/>
          <p:cNvSpPr txBox="1"/>
          <p:nvPr>
            <p:ph idx="2" type="subTitle"/>
          </p:nvPr>
        </p:nvSpPr>
        <p:spPr>
          <a:xfrm>
            <a:off x="1058801" y="3080996"/>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Chia-Chun Hung</a:t>
            </a:r>
            <a:endParaRPr/>
          </a:p>
        </p:txBody>
      </p:sp>
      <p:sp>
        <p:nvSpPr>
          <p:cNvPr id="664" name="Google Shape;664;p56"/>
          <p:cNvSpPr txBox="1"/>
          <p:nvPr>
            <p:ph idx="3" type="subTitle"/>
          </p:nvPr>
        </p:nvSpPr>
        <p:spPr>
          <a:xfrm>
            <a:off x="2804065" y="3067909"/>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Shao-Chueh Liu</a:t>
            </a:r>
            <a:endParaRPr/>
          </a:p>
        </p:txBody>
      </p:sp>
      <p:sp>
        <p:nvSpPr>
          <p:cNvPr id="665" name="Google Shape;665;p56"/>
          <p:cNvSpPr txBox="1"/>
          <p:nvPr>
            <p:ph idx="4" type="subTitle"/>
          </p:nvPr>
        </p:nvSpPr>
        <p:spPr>
          <a:xfrm>
            <a:off x="4576603" y="3073734"/>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Jiajun Ma</a:t>
            </a:r>
            <a:endParaRPr/>
          </a:p>
        </p:txBody>
      </p:sp>
      <p:sp>
        <p:nvSpPr>
          <p:cNvPr id="666" name="Google Shape;666;p56"/>
          <p:cNvSpPr txBox="1"/>
          <p:nvPr>
            <p:ph idx="5" type="subTitle"/>
          </p:nvPr>
        </p:nvSpPr>
        <p:spPr>
          <a:xfrm>
            <a:off x="6418678" y="3073734"/>
            <a:ext cx="1500900" cy="264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Joshua Zhang</a:t>
            </a:r>
            <a:endParaRPr/>
          </a:p>
        </p:txBody>
      </p:sp>
      <p:sp>
        <p:nvSpPr>
          <p:cNvPr id="667" name="Google Shape;667;p56"/>
          <p:cNvSpPr txBox="1"/>
          <p:nvPr>
            <p:ph idx="7" type="body"/>
          </p:nvPr>
        </p:nvSpPr>
        <p:spPr>
          <a:xfrm>
            <a:off x="1034475" y="3458725"/>
            <a:ext cx="1432800" cy="12468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Completed phase 3  (Exploratory Analysis &amp; Insight Generation)</a:t>
            </a:r>
            <a:endParaRPr/>
          </a:p>
          <a:p>
            <a:pPr indent="0" lvl="0" marL="457200" rtl="0" algn="l">
              <a:spcBef>
                <a:spcPts val="0"/>
              </a:spcBef>
              <a:spcAft>
                <a:spcPts val="0"/>
              </a:spcAft>
              <a:buNone/>
            </a:pPr>
            <a:r>
              <a:t/>
            </a:r>
            <a:endParaRPr/>
          </a:p>
          <a:p>
            <a:pPr indent="-285750" lvl="0" marL="457200" rtl="0" algn="l">
              <a:spcBef>
                <a:spcPts val="0"/>
              </a:spcBef>
              <a:spcAft>
                <a:spcPts val="0"/>
              </a:spcAft>
              <a:buSzPts val="900"/>
              <a:buChar char="●"/>
            </a:pPr>
            <a:r>
              <a:rPr lang="en"/>
              <a:t>Complete phase 4 (Synthesis &amp; Recommendation</a:t>
            </a:r>
            <a:r>
              <a:rPr lang="en"/>
              <a:t>s</a:t>
            </a:r>
            <a:r>
              <a:rPr lang="en"/>
              <a:t>)</a:t>
            </a:r>
            <a:endParaRPr/>
          </a:p>
        </p:txBody>
      </p:sp>
      <p:sp>
        <p:nvSpPr>
          <p:cNvPr id="668" name="Google Shape;668;p56"/>
          <p:cNvSpPr txBox="1"/>
          <p:nvPr>
            <p:ph idx="8" type="body"/>
          </p:nvPr>
        </p:nvSpPr>
        <p:spPr>
          <a:xfrm>
            <a:off x="2910500" y="1341300"/>
            <a:ext cx="1394400" cy="13854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Completed phase 2 data cleaning </a:t>
            </a:r>
            <a:endParaRPr/>
          </a:p>
          <a:p>
            <a:pPr indent="0" lvl="0" marL="457200" rtl="0" algn="l">
              <a:spcBef>
                <a:spcPts val="0"/>
              </a:spcBef>
              <a:spcAft>
                <a:spcPts val="0"/>
              </a:spcAft>
              <a:buNone/>
            </a:pPr>
            <a:r>
              <a:rPr lang="en"/>
              <a:t>(missing values,inconsistencies, duplicates)</a:t>
            </a:r>
            <a:endParaRPr/>
          </a:p>
          <a:p>
            <a:pPr indent="0" lvl="0" marL="457200" rtl="0" algn="l">
              <a:spcBef>
                <a:spcPts val="0"/>
              </a:spcBef>
              <a:spcAft>
                <a:spcPts val="0"/>
              </a:spcAft>
              <a:buNone/>
            </a:pPr>
            <a:r>
              <a:t/>
            </a:r>
            <a:endParaRPr/>
          </a:p>
          <a:p>
            <a:pPr indent="-285750" lvl="0" marL="457200" rtl="0" algn="l">
              <a:spcBef>
                <a:spcPts val="0"/>
              </a:spcBef>
              <a:spcAft>
                <a:spcPts val="0"/>
              </a:spcAft>
              <a:buSzPts val="900"/>
              <a:buChar char="●"/>
            </a:pPr>
            <a:r>
              <a:rPr lang="en"/>
              <a:t>Completed the AI analysis slide based on AI EDA analysis</a:t>
            </a:r>
            <a:endParaRPr/>
          </a:p>
        </p:txBody>
      </p:sp>
      <p:sp>
        <p:nvSpPr>
          <p:cNvPr id="669" name="Google Shape;669;p56"/>
          <p:cNvSpPr txBox="1"/>
          <p:nvPr>
            <p:ph idx="9" type="body"/>
          </p:nvPr>
        </p:nvSpPr>
        <p:spPr>
          <a:xfrm>
            <a:off x="4558434" y="3458725"/>
            <a:ext cx="1432800" cy="11082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Think about how each target audience or segment relates to your product or service, why they need it, and how they’ll use it. </a:t>
            </a:r>
            <a:endParaRPr/>
          </a:p>
        </p:txBody>
      </p:sp>
      <p:sp>
        <p:nvSpPr>
          <p:cNvPr id="670" name="Google Shape;670;p56"/>
          <p:cNvSpPr txBox="1"/>
          <p:nvPr>
            <p:ph idx="13" type="body"/>
          </p:nvPr>
        </p:nvSpPr>
        <p:spPr>
          <a:xfrm>
            <a:off x="6566485" y="3458734"/>
            <a:ext cx="1239300" cy="8313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Flow chart diagram</a:t>
            </a:r>
            <a:endParaRPr/>
          </a:p>
          <a:p>
            <a:pPr indent="-285750" lvl="0" marL="457200" rtl="0" algn="l">
              <a:spcBef>
                <a:spcPts val="0"/>
              </a:spcBef>
              <a:spcAft>
                <a:spcPts val="0"/>
              </a:spcAft>
              <a:buSzPts val="900"/>
              <a:buChar char="●"/>
            </a:pPr>
            <a:r>
              <a:rPr lang="en"/>
              <a:t>Data dictionary table</a:t>
            </a:r>
            <a:endParaRPr/>
          </a:p>
          <a:p>
            <a:pPr indent="-285750" lvl="0" marL="457200" rtl="0" algn="l">
              <a:spcBef>
                <a:spcPts val="0"/>
              </a:spcBef>
              <a:spcAft>
                <a:spcPts val="0"/>
              </a:spcAft>
              <a:buSzPts val="900"/>
              <a:buChar char="●"/>
            </a:pPr>
            <a:r>
              <a:rPr lang="en"/>
              <a:t>Individual</a:t>
            </a:r>
            <a:r>
              <a:rPr lang="en"/>
              <a:t> report Phase 1</a:t>
            </a:r>
            <a:endParaRPr/>
          </a:p>
        </p:txBody>
      </p:sp>
      <p:sp>
        <p:nvSpPr>
          <p:cNvPr id="671" name="Google Shape;671;p56"/>
          <p:cNvSpPr/>
          <p:nvPr/>
        </p:nvSpPr>
        <p:spPr>
          <a:xfrm>
            <a:off x="2817700" y="3067725"/>
            <a:ext cx="1500900" cy="19575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72" name="Google Shape;672;p56"/>
          <p:cNvSpPr txBox="1"/>
          <p:nvPr/>
        </p:nvSpPr>
        <p:spPr>
          <a:xfrm>
            <a:off x="2730749" y="3338325"/>
            <a:ext cx="1547400" cy="1217400"/>
          </a:xfrm>
          <a:prstGeom prst="rect">
            <a:avLst/>
          </a:prstGeom>
          <a:noFill/>
          <a:ln>
            <a:noFill/>
          </a:ln>
        </p:spPr>
        <p:txBody>
          <a:bodyPr anchorCtr="0" anchor="t" bIns="91425" lIns="91425" spcFirstLastPara="1" rIns="91425" wrap="square" tIns="91425">
            <a:noAutofit/>
          </a:bodyPr>
          <a:lstStyle/>
          <a:p>
            <a:pPr indent="-285750" lvl="0" marL="457200" marR="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Performed data validation and integrity checks, wrote SQL queries to identify missing or inconsistent records.</a:t>
            </a:r>
            <a:endParaRPr sz="900">
              <a:solidFill>
                <a:schemeClr val="lt1"/>
              </a:solidFill>
              <a:latin typeface="Red Hat Display"/>
              <a:ea typeface="Red Hat Display"/>
              <a:cs typeface="Red Hat Display"/>
              <a:sym typeface="Red Hat Display"/>
            </a:endParaRPr>
          </a:p>
        </p:txBody>
      </p:sp>
      <p:sp>
        <p:nvSpPr>
          <p:cNvPr id="673" name="Google Shape;673;p56"/>
          <p:cNvSpPr txBox="1"/>
          <p:nvPr>
            <p:ph idx="7" type="body"/>
          </p:nvPr>
        </p:nvSpPr>
        <p:spPr>
          <a:xfrm>
            <a:off x="6448200" y="1410600"/>
            <a:ext cx="1500900" cy="1108200"/>
          </a:xfrm>
          <a:prstGeom prst="rect">
            <a:avLst/>
          </a:prstGeom>
        </p:spPr>
        <p:txBody>
          <a:bodyPr anchorCtr="0" anchor="t" bIns="0" lIns="0" spcFirstLastPara="1" rIns="0" wrap="square" tIns="0">
            <a:spAutoFit/>
          </a:bodyPr>
          <a:lstStyle/>
          <a:p>
            <a:pPr indent="-285750" lvl="0" marL="457200" rtl="0" algn="l">
              <a:spcBef>
                <a:spcPts val="0"/>
              </a:spcBef>
              <a:spcAft>
                <a:spcPts val="0"/>
              </a:spcAft>
              <a:buSzPts val="900"/>
              <a:buChar char="●"/>
            </a:pPr>
            <a:r>
              <a:rPr lang="en"/>
              <a:t>Completed phase 3  (Exploratory Analysis &amp; Insight Generation)</a:t>
            </a:r>
            <a:endParaRPr/>
          </a:p>
          <a:p>
            <a:pPr indent="0" lvl="0" marL="457200" rtl="0" algn="l">
              <a:spcBef>
                <a:spcPts val="0"/>
              </a:spcBef>
              <a:spcAft>
                <a:spcPts val="0"/>
              </a:spcAft>
              <a:buNone/>
            </a:pPr>
            <a:r>
              <a:t/>
            </a:r>
            <a:endParaRPr/>
          </a:p>
          <a:p>
            <a:pPr indent="-285750" lvl="0" marL="457200" rtl="0" algn="l">
              <a:spcBef>
                <a:spcPts val="0"/>
              </a:spcBef>
              <a:spcAft>
                <a:spcPts val="0"/>
              </a:spcAft>
              <a:buSzPts val="900"/>
              <a:buChar char="●"/>
            </a:pPr>
            <a:r>
              <a:rPr lang="en"/>
              <a:t>Complete phase 4 (Synthesis &amp; Recommendations)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7"/>
          <p:cNvSpPr txBox="1"/>
          <p:nvPr>
            <p:ph type="title"/>
          </p:nvPr>
        </p:nvSpPr>
        <p:spPr>
          <a:xfrm>
            <a:off x="3985919" y="2189425"/>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